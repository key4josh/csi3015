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90313-75D5-7F7C-BEC9-1E0F29E9E7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EA0385-84AA-A278-2B0F-C0167ADF15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0A4A6E-0618-A031-94EC-32942B4586AE}"/>
              </a:ext>
            </a:extLst>
          </p:cNvPr>
          <p:cNvSpPr>
            <a:spLocks noGrp="1"/>
          </p:cNvSpPr>
          <p:nvPr>
            <p:ph type="dt" sz="half" idx="10"/>
          </p:nvPr>
        </p:nvSpPr>
        <p:spPr/>
        <p:txBody>
          <a:bodyPr/>
          <a:lstStyle/>
          <a:p>
            <a:fld id="{273E0098-6029-44BA-B23A-EAEDF13A81B1}" type="datetimeFigureOut">
              <a:rPr lang="en-IN" smtClean="0"/>
              <a:t>13-12-2025</a:t>
            </a:fld>
            <a:endParaRPr lang="en-IN"/>
          </a:p>
        </p:txBody>
      </p:sp>
      <p:sp>
        <p:nvSpPr>
          <p:cNvPr id="5" name="Footer Placeholder 4">
            <a:extLst>
              <a:ext uri="{FF2B5EF4-FFF2-40B4-BE49-F238E27FC236}">
                <a16:creationId xmlns:a16="http://schemas.microsoft.com/office/drawing/2014/main" id="{9219AB98-EC36-4746-18F7-F870B73C50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4A0178-9ADA-5D4A-BEBF-7220A3227F6C}"/>
              </a:ext>
            </a:extLst>
          </p:cNvPr>
          <p:cNvSpPr>
            <a:spLocks noGrp="1"/>
          </p:cNvSpPr>
          <p:nvPr>
            <p:ph type="sldNum" sz="quarter" idx="12"/>
          </p:nvPr>
        </p:nvSpPr>
        <p:spPr/>
        <p:txBody>
          <a:bodyPr/>
          <a:lstStyle/>
          <a:p>
            <a:fld id="{15FD132F-6AE3-47A9-A95F-03E1B30A9E7C}" type="slidenum">
              <a:rPr lang="en-IN" smtClean="0"/>
              <a:t>‹#›</a:t>
            </a:fld>
            <a:endParaRPr lang="en-IN"/>
          </a:p>
        </p:txBody>
      </p:sp>
    </p:spTree>
    <p:extLst>
      <p:ext uri="{BB962C8B-B14F-4D97-AF65-F5344CB8AC3E}">
        <p14:creationId xmlns:p14="http://schemas.microsoft.com/office/powerpoint/2010/main" val="255065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CCBFC-D9C5-61F5-408E-F48507C47B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B54F20-95D6-80B4-5EDB-41DBB75F70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43B9A4-6858-F15E-E59D-18F9BF139C81}"/>
              </a:ext>
            </a:extLst>
          </p:cNvPr>
          <p:cNvSpPr>
            <a:spLocks noGrp="1"/>
          </p:cNvSpPr>
          <p:nvPr>
            <p:ph type="dt" sz="half" idx="10"/>
          </p:nvPr>
        </p:nvSpPr>
        <p:spPr/>
        <p:txBody>
          <a:bodyPr/>
          <a:lstStyle/>
          <a:p>
            <a:fld id="{273E0098-6029-44BA-B23A-EAEDF13A81B1}" type="datetimeFigureOut">
              <a:rPr lang="en-IN" smtClean="0"/>
              <a:t>13-12-2025</a:t>
            </a:fld>
            <a:endParaRPr lang="en-IN"/>
          </a:p>
        </p:txBody>
      </p:sp>
      <p:sp>
        <p:nvSpPr>
          <p:cNvPr id="5" name="Footer Placeholder 4">
            <a:extLst>
              <a:ext uri="{FF2B5EF4-FFF2-40B4-BE49-F238E27FC236}">
                <a16:creationId xmlns:a16="http://schemas.microsoft.com/office/drawing/2014/main" id="{180462A2-76F8-83FF-BC26-7E55200EE4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160B7C-9186-3468-B22E-5A3D3C8B823F}"/>
              </a:ext>
            </a:extLst>
          </p:cNvPr>
          <p:cNvSpPr>
            <a:spLocks noGrp="1"/>
          </p:cNvSpPr>
          <p:nvPr>
            <p:ph type="sldNum" sz="quarter" idx="12"/>
          </p:nvPr>
        </p:nvSpPr>
        <p:spPr/>
        <p:txBody>
          <a:bodyPr/>
          <a:lstStyle/>
          <a:p>
            <a:fld id="{15FD132F-6AE3-47A9-A95F-03E1B30A9E7C}" type="slidenum">
              <a:rPr lang="en-IN" smtClean="0"/>
              <a:t>‹#›</a:t>
            </a:fld>
            <a:endParaRPr lang="en-IN"/>
          </a:p>
        </p:txBody>
      </p:sp>
    </p:spTree>
    <p:extLst>
      <p:ext uri="{BB962C8B-B14F-4D97-AF65-F5344CB8AC3E}">
        <p14:creationId xmlns:p14="http://schemas.microsoft.com/office/powerpoint/2010/main" val="3588145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B7A25-CFFA-771E-5273-D9B6828666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B8C359-0D38-D4A9-2EDB-3BB48A37D4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B277E4-CAC2-2B08-16BC-BC3E0B2DFAE5}"/>
              </a:ext>
            </a:extLst>
          </p:cNvPr>
          <p:cNvSpPr>
            <a:spLocks noGrp="1"/>
          </p:cNvSpPr>
          <p:nvPr>
            <p:ph type="dt" sz="half" idx="10"/>
          </p:nvPr>
        </p:nvSpPr>
        <p:spPr/>
        <p:txBody>
          <a:bodyPr/>
          <a:lstStyle/>
          <a:p>
            <a:fld id="{273E0098-6029-44BA-B23A-EAEDF13A81B1}" type="datetimeFigureOut">
              <a:rPr lang="en-IN" smtClean="0"/>
              <a:t>13-12-2025</a:t>
            </a:fld>
            <a:endParaRPr lang="en-IN"/>
          </a:p>
        </p:txBody>
      </p:sp>
      <p:sp>
        <p:nvSpPr>
          <p:cNvPr id="5" name="Footer Placeholder 4">
            <a:extLst>
              <a:ext uri="{FF2B5EF4-FFF2-40B4-BE49-F238E27FC236}">
                <a16:creationId xmlns:a16="http://schemas.microsoft.com/office/drawing/2014/main" id="{69583228-2EF1-417D-4CC7-BF165E578D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43E875-0BA0-F96F-1139-556971056A4C}"/>
              </a:ext>
            </a:extLst>
          </p:cNvPr>
          <p:cNvSpPr>
            <a:spLocks noGrp="1"/>
          </p:cNvSpPr>
          <p:nvPr>
            <p:ph type="sldNum" sz="quarter" idx="12"/>
          </p:nvPr>
        </p:nvSpPr>
        <p:spPr/>
        <p:txBody>
          <a:bodyPr/>
          <a:lstStyle/>
          <a:p>
            <a:fld id="{15FD132F-6AE3-47A9-A95F-03E1B30A9E7C}" type="slidenum">
              <a:rPr lang="en-IN" smtClean="0"/>
              <a:t>‹#›</a:t>
            </a:fld>
            <a:endParaRPr lang="en-IN"/>
          </a:p>
        </p:txBody>
      </p:sp>
    </p:spTree>
    <p:extLst>
      <p:ext uri="{BB962C8B-B14F-4D97-AF65-F5344CB8AC3E}">
        <p14:creationId xmlns:p14="http://schemas.microsoft.com/office/powerpoint/2010/main" val="917259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DA8D5-3DE7-4EEC-E6E1-521B0BE51A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BD6EF3-3D8F-F5BB-FCC6-B963467C84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CDCB19B-A5BF-25EB-2C7E-7608E75DD1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3A69F8-9D4D-E622-BE34-82F27C67D50E}"/>
              </a:ext>
            </a:extLst>
          </p:cNvPr>
          <p:cNvSpPr>
            <a:spLocks noGrp="1"/>
          </p:cNvSpPr>
          <p:nvPr>
            <p:ph type="dt" sz="half" idx="10"/>
          </p:nvPr>
        </p:nvSpPr>
        <p:spPr/>
        <p:txBody>
          <a:bodyPr/>
          <a:lstStyle/>
          <a:p>
            <a:fld id="{273E0098-6029-44BA-B23A-EAEDF13A81B1}" type="datetimeFigureOut">
              <a:rPr lang="en-IN" smtClean="0"/>
              <a:t>13-12-2025</a:t>
            </a:fld>
            <a:endParaRPr lang="en-IN"/>
          </a:p>
        </p:txBody>
      </p:sp>
      <p:sp>
        <p:nvSpPr>
          <p:cNvPr id="6" name="Footer Placeholder 5">
            <a:extLst>
              <a:ext uri="{FF2B5EF4-FFF2-40B4-BE49-F238E27FC236}">
                <a16:creationId xmlns:a16="http://schemas.microsoft.com/office/drawing/2014/main" id="{E954B9F3-596B-0D5D-A5C0-3C5BCF2D54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89D6CC-F97A-7BC7-6641-FC9283E450A5}"/>
              </a:ext>
            </a:extLst>
          </p:cNvPr>
          <p:cNvSpPr>
            <a:spLocks noGrp="1"/>
          </p:cNvSpPr>
          <p:nvPr>
            <p:ph type="sldNum" sz="quarter" idx="12"/>
          </p:nvPr>
        </p:nvSpPr>
        <p:spPr/>
        <p:txBody>
          <a:bodyPr/>
          <a:lstStyle/>
          <a:p>
            <a:fld id="{15FD132F-6AE3-47A9-A95F-03E1B30A9E7C}" type="slidenum">
              <a:rPr lang="en-IN" smtClean="0"/>
              <a:t>‹#›</a:t>
            </a:fld>
            <a:endParaRPr lang="en-IN"/>
          </a:p>
        </p:txBody>
      </p:sp>
    </p:spTree>
    <p:extLst>
      <p:ext uri="{BB962C8B-B14F-4D97-AF65-F5344CB8AC3E}">
        <p14:creationId xmlns:p14="http://schemas.microsoft.com/office/powerpoint/2010/main" val="2406742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8FF6F-9CDB-E95E-FBE9-93F63CED2B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FED4DA-7B47-5DE8-17E4-BAE4C22868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14FFC3-A668-07AE-2E24-A0173E36F4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26F513E-5F15-2796-F0CE-CE12CE88BE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4E6588-6001-24AD-9EFD-5C00C076A4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ADB051E-CE51-74EE-10C9-12E3BC4277DE}"/>
              </a:ext>
            </a:extLst>
          </p:cNvPr>
          <p:cNvSpPr>
            <a:spLocks noGrp="1"/>
          </p:cNvSpPr>
          <p:nvPr>
            <p:ph type="dt" sz="half" idx="10"/>
          </p:nvPr>
        </p:nvSpPr>
        <p:spPr/>
        <p:txBody>
          <a:bodyPr/>
          <a:lstStyle/>
          <a:p>
            <a:fld id="{273E0098-6029-44BA-B23A-EAEDF13A81B1}" type="datetimeFigureOut">
              <a:rPr lang="en-IN" smtClean="0"/>
              <a:t>13-12-2025</a:t>
            </a:fld>
            <a:endParaRPr lang="en-IN"/>
          </a:p>
        </p:txBody>
      </p:sp>
      <p:sp>
        <p:nvSpPr>
          <p:cNvPr id="8" name="Footer Placeholder 7">
            <a:extLst>
              <a:ext uri="{FF2B5EF4-FFF2-40B4-BE49-F238E27FC236}">
                <a16:creationId xmlns:a16="http://schemas.microsoft.com/office/drawing/2014/main" id="{23486DF1-BD85-34B5-19C8-05AA784C3B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6A53283-3486-B0D4-5EDB-115AB1B0CE77}"/>
              </a:ext>
            </a:extLst>
          </p:cNvPr>
          <p:cNvSpPr>
            <a:spLocks noGrp="1"/>
          </p:cNvSpPr>
          <p:nvPr>
            <p:ph type="sldNum" sz="quarter" idx="12"/>
          </p:nvPr>
        </p:nvSpPr>
        <p:spPr/>
        <p:txBody>
          <a:bodyPr/>
          <a:lstStyle/>
          <a:p>
            <a:fld id="{15FD132F-6AE3-47A9-A95F-03E1B30A9E7C}" type="slidenum">
              <a:rPr lang="en-IN" smtClean="0"/>
              <a:t>‹#›</a:t>
            </a:fld>
            <a:endParaRPr lang="en-IN"/>
          </a:p>
        </p:txBody>
      </p:sp>
    </p:spTree>
    <p:extLst>
      <p:ext uri="{BB962C8B-B14F-4D97-AF65-F5344CB8AC3E}">
        <p14:creationId xmlns:p14="http://schemas.microsoft.com/office/powerpoint/2010/main" val="587248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99A47-F29B-1E73-A5E8-1708DE2C78E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377ED2C-C97E-1429-7ADC-E8C07ED64C0F}"/>
              </a:ext>
            </a:extLst>
          </p:cNvPr>
          <p:cNvSpPr>
            <a:spLocks noGrp="1"/>
          </p:cNvSpPr>
          <p:nvPr>
            <p:ph type="dt" sz="half" idx="10"/>
          </p:nvPr>
        </p:nvSpPr>
        <p:spPr/>
        <p:txBody>
          <a:bodyPr/>
          <a:lstStyle/>
          <a:p>
            <a:fld id="{273E0098-6029-44BA-B23A-EAEDF13A81B1}" type="datetimeFigureOut">
              <a:rPr lang="en-IN" smtClean="0"/>
              <a:t>13-12-2025</a:t>
            </a:fld>
            <a:endParaRPr lang="en-IN"/>
          </a:p>
        </p:txBody>
      </p:sp>
      <p:sp>
        <p:nvSpPr>
          <p:cNvPr id="4" name="Footer Placeholder 3">
            <a:extLst>
              <a:ext uri="{FF2B5EF4-FFF2-40B4-BE49-F238E27FC236}">
                <a16:creationId xmlns:a16="http://schemas.microsoft.com/office/drawing/2014/main" id="{040A3935-A979-5F36-BF93-51E5479AD29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7C6B24-7B6D-717E-7D48-1994B4E5722D}"/>
              </a:ext>
            </a:extLst>
          </p:cNvPr>
          <p:cNvSpPr>
            <a:spLocks noGrp="1"/>
          </p:cNvSpPr>
          <p:nvPr>
            <p:ph type="sldNum" sz="quarter" idx="12"/>
          </p:nvPr>
        </p:nvSpPr>
        <p:spPr/>
        <p:txBody>
          <a:bodyPr/>
          <a:lstStyle/>
          <a:p>
            <a:fld id="{15FD132F-6AE3-47A9-A95F-03E1B30A9E7C}" type="slidenum">
              <a:rPr lang="en-IN" smtClean="0"/>
              <a:t>‹#›</a:t>
            </a:fld>
            <a:endParaRPr lang="en-IN"/>
          </a:p>
        </p:txBody>
      </p:sp>
    </p:spTree>
    <p:extLst>
      <p:ext uri="{BB962C8B-B14F-4D97-AF65-F5344CB8AC3E}">
        <p14:creationId xmlns:p14="http://schemas.microsoft.com/office/powerpoint/2010/main" val="2371541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ADC4E1-FE09-76AE-1285-F04D06BE8AAA}"/>
              </a:ext>
            </a:extLst>
          </p:cNvPr>
          <p:cNvSpPr>
            <a:spLocks noGrp="1"/>
          </p:cNvSpPr>
          <p:nvPr>
            <p:ph type="dt" sz="half" idx="10"/>
          </p:nvPr>
        </p:nvSpPr>
        <p:spPr/>
        <p:txBody>
          <a:bodyPr/>
          <a:lstStyle/>
          <a:p>
            <a:fld id="{273E0098-6029-44BA-B23A-EAEDF13A81B1}" type="datetimeFigureOut">
              <a:rPr lang="en-IN" smtClean="0"/>
              <a:t>13-12-2025</a:t>
            </a:fld>
            <a:endParaRPr lang="en-IN"/>
          </a:p>
        </p:txBody>
      </p:sp>
      <p:sp>
        <p:nvSpPr>
          <p:cNvPr id="3" name="Footer Placeholder 2">
            <a:extLst>
              <a:ext uri="{FF2B5EF4-FFF2-40B4-BE49-F238E27FC236}">
                <a16:creationId xmlns:a16="http://schemas.microsoft.com/office/drawing/2014/main" id="{6EE91513-32B1-0BFA-3B7B-4D4F8FF812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5BDE4BB-039F-A386-68AB-4A501126F719}"/>
              </a:ext>
            </a:extLst>
          </p:cNvPr>
          <p:cNvSpPr>
            <a:spLocks noGrp="1"/>
          </p:cNvSpPr>
          <p:nvPr>
            <p:ph type="sldNum" sz="quarter" idx="12"/>
          </p:nvPr>
        </p:nvSpPr>
        <p:spPr/>
        <p:txBody>
          <a:bodyPr/>
          <a:lstStyle/>
          <a:p>
            <a:fld id="{15FD132F-6AE3-47A9-A95F-03E1B30A9E7C}" type="slidenum">
              <a:rPr lang="en-IN" smtClean="0"/>
              <a:t>‹#›</a:t>
            </a:fld>
            <a:endParaRPr lang="en-IN"/>
          </a:p>
        </p:txBody>
      </p:sp>
    </p:spTree>
    <p:extLst>
      <p:ext uri="{BB962C8B-B14F-4D97-AF65-F5344CB8AC3E}">
        <p14:creationId xmlns:p14="http://schemas.microsoft.com/office/powerpoint/2010/main" val="4018758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6236D-876B-672E-ABE4-8AA4E3E8BE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EC7684-6F4F-5381-C92A-E09F71EB91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6559A3A-6905-8E6E-FDB1-FF51D3B925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53B50D-04E5-C940-7487-E7714654658F}"/>
              </a:ext>
            </a:extLst>
          </p:cNvPr>
          <p:cNvSpPr>
            <a:spLocks noGrp="1"/>
          </p:cNvSpPr>
          <p:nvPr>
            <p:ph type="dt" sz="half" idx="10"/>
          </p:nvPr>
        </p:nvSpPr>
        <p:spPr/>
        <p:txBody>
          <a:bodyPr/>
          <a:lstStyle/>
          <a:p>
            <a:fld id="{273E0098-6029-44BA-B23A-EAEDF13A81B1}" type="datetimeFigureOut">
              <a:rPr lang="en-IN" smtClean="0"/>
              <a:t>13-12-2025</a:t>
            </a:fld>
            <a:endParaRPr lang="en-IN"/>
          </a:p>
        </p:txBody>
      </p:sp>
      <p:sp>
        <p:nvSpPr>
          <p:cNvPr id="6" name="Footer Placeholder 5">
            <a:extLst>
              <a:ext uri="{FF2B5EF4-FFF2-40B4-BE49-F238E27FC236}">
                <a16:creationId xmlns:a16="http://schemas.microsoft.com/office/drawing/2014/main" id="{65828BF8-F291-FC1D-DC02-2F869CBEE3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F47AB6-8542-6D3B-8358-A80F0BA37A5B}"/>
              </a:ext>
            </a:extLst>
          </p:cNvPr>
          <p:cNvSpPr>
            <a:spLocks noGrp="1"/>
          </p:cNvSpPr>
          <p:nvPr>
            <p:ph type="sldNum" sz="quarter" idx="12"/>
          </p:nvPr>
        </p:nvSpPr>
        <p:spPr/>
        <p:txBody>
          <a:bodyPr/>
          <a:lstStyle/>
          <a:p>
            <a:fld id="{15FD132F-6AE3-47A9-A95F-03E1B30A9E7C}" type="slidenum">
              <a:rPr lang="en-IN" smtClean="0"/>
              <a:t>‹#›</a:t>
            </a:fld>
            <a:endParaRPr lang="en-IN"/>
          </a:p>
        </p:txBody>
      </p:sp>
    </p:spTree>
    <p:extLst>
      <p:ext uri="{BB962C8B-B14F-4D97-AF65-F5344CB8AC3E}">
        <p14:creationId xmlns:p14="http://schemas.microsoft.com/office/powerpoint/2010/main" val="3030926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AFDC2-85D2-0DF5-73B9-34C704B444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3338A66-2E49-3F63-F5A2-9F5530AA8A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85A0079-E0D3-4EA4-1EE0-E0AEB71393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4A5FDA-D980-1888-537D-E25FBEDFEE3E}"/>
              </a:ext>
            </a:extLst>
          </p:cNvPr>
          <p:cNvSpPr>
            <a:spLocks noGrp="1"/>
          </p:cNvSpPr>
          <p:nvPr>
            <p:ph type="dt" sz="half" idx="10"/>
          </p:nvPr>
        </p:nvSpPr>
        <p:spPr/>
        <p:txBody>
          <a:bodyPr/>
          <a:lstStyle/>
          <a:p>
            <a:fld id="{273E0098-6029-44BA-B23A-EAEDF13A81B1}" type="datetimeFigureOut">
              <a:rPr lang="en-IN" smtClean="0"/>
              <a:t>13-12-2025</a:t>
            </a:fld>
            <a:endParaRPr lang="en-IN"/>
          </a:p>
        </p:txBody>
      </p:sp>
      <p:sp>
        <p:nvSpPr>
          <p:cNvPr id="6" name="Footer Placeholder 5">
            <a:extLst>
              <a:ext uri="{FF2B5EF4-FFF2-40B4-BE49-F238E27FC236}">
                <a16:creationId xmlns:a16="http://schemas.microsoft.com/office/drawing/2014/main" id="{3DD607E0-454F-209D-2C28-227217B9AD4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400F10-EBB8-F979-7788-F8BBBF538105}"/>
              </a:ext>
            </a:extLst>
          </p:cNvPr>
          <p:cNvSpPr>
            <a:spLocks noGrp="1"/>
          </p:cNvSpPr>
          <p:nvPr>
            <p:ph type="sldNum" sz="quarter" idx="12"/>
          </p:nvPr>
        </p:nvSpPr>
        <p:spPr/>
        <p:txBody>
          <a:bodyPr/>
          <a:lstStyle/>
          <a:p>
            <a:fld id="{15FD132F-6AE3-47A9-A95F-03E1B30A9E7C}" type="slidenum">
              <a:rPr lang="en-IN" smtClean="0"/>
              <a:t>‹#›</a:t>
            </a:fld>
            <a:endParaRPr lang="en-IN"/>
          </a:p>
        </p:txBody>
      </p:sp>
    </p:spTree>
    <p:extLst>
      <p:ext uri="{BB962C8B-B14F-4D97-AF65-F5344CB8AC3E}">
        <p14:creationId xmlns:p14="http://schemas.microsoft.com/office/powerpoint/2010/main" val="1085086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95405-A789-0B9A-712B-FB9A469525E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0BDD54-C63D-D692-C320-8D348C8C4B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7FC606-4127-996A-7F3B-E3EF5B163FD7}"/>
              </a:ext>
            </a:extLst>
          </p:cNvPr>
          <p:cNvSpPr>
            <a:spLocks noGrp="1"/>
          </p:cNvSpPr>
          <p:nvPr>
            <p:ph type="dt" sz="half" idx="10"/>
          </p:nvPr>
        </p:nvSpPr>
        <p:spPr/>
        <p:txBody>
          <a:bodyPr/>
          <a:lstStyle/>
          <a:p>
            <a:fld id="{273E0098-6029-44BA-B23A-EAEDF13A81B1}" type="datetimeFigureOut">
              <a:rPr lang="en-IN" smtClean="0"/>
              <a:t>13-12-2025</a:t>
            </a:fld>
            <a:endParaRPr lang="en-IN"/>
          </a:p>
        </p:txBody>
      </p:sp>
      <p:sp>
        <p:nvSpPr>
          <p:cNvPr id="5" name="Footer Placeholder 4">
            <a:extLst>
              <a:ext uri="{FF2B5EF4-FFF2-40B4-BE49-F238E27FC236}">
                <a16:creationId xmlns:a16="http://schemas.microsoft.com/office/drawing/2014/main" id="{205D8911-41B4-C63E-F76D-FFBAA54B09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81FE42-4BB2-7300-9F1E-5BE7AC13943D}"/>
              </a:ext>
            </a:extLst>
          </p:cNvPr>
          <p:cNvSpPr>
            <a:spLocks noGrp="1"/>
          </p:cNvSpPr>
          <p:nvPr>
            <p:ph type="sldNum" sz="quarter" idx="12"/>
          </p:nvPr>
        </p:nvSpPr>
        <p:spPr/>
        <p:txBody>
          <a:bodyPr/>
          <a:lstStyle/>
          <a:p>
            <a:fld id="{15FD132F-6AE3-47A9-A95F-03E1B30A9E7C}" type="slidenum">
              <a:rPr lang="en-IN" smtClean="0"/>
              <a:t>‹#›</a:t>
            </a:fld>
            <a:endParaRPr lang="en-IN"/>
          </a:p>
        </p:txBody>
      </p:sp>
    </p:spTree>
    <p:extLst>
      <p:ext uri="{BB962C8B-B14F-4D97-AF65-F5344CB8AC3E}">
        <p14:creationId xmlns:p14="http://schemas.microsoft.com/office/powerpoint/2010/main" val="150192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901555-3FC9-8DD9-936B-658E02C6D3D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5FF323-C4D7-3F45-04D8-682C1E6378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4BB65C-FAB1-C73D-7E9F-5AFE421AF801}"/>
              </a:ext>
            </a:extLst>
          </p:cNvPr>
          <p:cNvSpPr>
            <a:spLocks noGrp="1"/>
          </p:cNvSpPr>
          <p:nvPr>
            <p:ph type="dt" sz="half" idx="10"/>
          </p:nvPr>
        </p:nvSpPr>
        <p:spPr/>
        <p:txBody>
          <a:bodyPr/>
          <a:lstStyle/>
          <a:p>
            <a:fld id="{273E0098-6029-44BA-B23A-EAEDF13A81B1}" type="datetimeFigureOut">
              <a:rPr lang="en-IN" smtClean="0"/>
              <a:t>13-12-2025</a:t>
            </a:fld>
            <a:endParaRPr lang="en-IN"/>
          </a:p>
        </p:txBody>
      </p:sp>
      <p:sp>
        <p:nvSpPr>
          <p:cNvPr id="5" name="Footer Placeholder 4">
            <a:extLst>
              <a:ext uri="{FF2B5EF4-FFF2-40B4-BE49-F238E27FC236}">
                <a16:creationId xmlns:a16="http://schemas.microsoft.com/office/drawing/2014/main" id="{A20CC641-14D4-A333-968E-E59A265CCE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CA2058-3470-4EA4-4020-68FE96475B4D}"/>
              </a:ext>
            </a:extLst>
          </p:cNvPr>
          <p:cNvSpPr>
            <a:spLocks noGrp="1"/>
          </p:cNvSpPr>
          <p:nvPr>
            <p:ph type="sldNum" sz="quarter" idx="12"/>
          </p:nvPr>
        </p:nvSpPr>
        <p:spPr/>
        <p:txBody>
          <a:bodyPr/>
          <a:lstStyle/>
          <a:p>
            <a:fld id="{15FD132F-6AE3-47A9-A95F-03E1B30A9E7C}" type="slidenum">
              <a:rPr lang="en-IN" smtClean="0"/>
              <a:t>‹#›</a:t>
            </a:fld>
            <a:endParaRPr lang="en-IN"/>
          </a:p>
        </p:txBody>
      </p:sp>
    </p:spTree>
    <p:extLst>
      <p:ext uri="{BB962C8B-B14F-4D97-AF65-F5344CB8AC3E}">
        <p14:creationId xmlns:p14="http://schemas.microsoft.com/office/powerpoint/2010/main" val="92651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A01028-B807-B4DC-8B72-526E8E7010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CDBDF4-D8D1-95CE-891C-7346FC0849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1B2155-7F22-CC04-8415-D71DB7879A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3E0098-6029-44BA-B23A-EAEDF13A81B1}" type="datetimeFigureOut">
              <a:rPr lang="en-IN" smtClean="0"/>
              <a:t>13-12-2025</a:t>
            </a:fld>
            <a:endParaRPr lang="en-IN"/>
          </a:p>
        </p:txBody>
      </p:sp>
      <p:sp>
        <p:nvSpPr>
          <p:cNvPr id="5" name="Footer Placeholder 4">
            <a:extLst>
              <a:ext uri="{FF2B5EF4-FFF2-40B4-BE49-F238E27FC236}">
                <a16:creationId xmlns:a16="http://schemas.microsoft.com/office/drawing/2014/main" id="{5B53E77B-C50C-9306-F3B6-94036A3335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688D7F5-9FB7-9733-F263-0F82D74120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FD132F-6AE3-47A9-A95F-03E1B30A9E7C}" type="slidenum">
              <a:rPr lang="en-IN" smtClean="0"/>
              <a:t>‹#›</a:t>
            </a:fld>
            <a:endParaRPr lang="en-IN"/>
          </a:p>
        </p:txBody>
      </p:sp>
    </p:spTree>
    <p:extLst>
      <p:ext uri="{BB962C8B-B14F-4D97-AF65-F5344CB8AC3E}">
        <p14:creationId xmlns:p14="http://schemas.microsoft.com/office/powerpoint/2010/main" val="818286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74582-E6C6-C1F7-2123-22E23D5B6C4A}"/>
              </a:ext>
            </a:extLst>
          </p:cNvPr>
          <p:cNvSpPr>
            <a:spLocks noGrp="1"/>
          </p:cNvSpPr>
          <p:nvPr>
            <p:ph type="ctrTitle"/>
          </p:nvPr>
        </p:nvSpPr>
        <p:spPr/>
        <p:txBody>
          <a:bodyPr>
            <a:normAutofit fontScale="90000"/>
          </a:bodyPr>
          <a:lstStyle/>
          <a:p>
            <a:r>
              <a:rPr lang="en-IN" dirty="0"/>
              <a:t>Contract management and Technical Project Management</a:t>
            </a:r>
          </a:p>
        </p:txBody>
      </p:sp>
      <p:sp>
        <p:nvSpPr>
          <p:cNvPr id="3" name="Subtitle 2">
            <a:extLst>
              <a:ext uri="{FF2B5EF4-FFF2-40B4-BE49-F238E27FC236}">
                <a16:creationId xmlns:a16="http://schemas.microsoft.com/office/drawing/2014/main" id="{734E6D5B-E8C8-93CD-ACB1-772F002588B8}"/>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179918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BAE9-F741-1CF3-A388-06913B3343DF}"/>
              </a:ext>
            </a:extLst>
          </p:cNvPr>
          <p:cNvSpPr>
            <a:spLocks noGrp="1"/>
          </p:cNvSpPr>
          <p:nvPr>
            <p:ph type="title"/>
          </p:nvPr>
        </p:nvSpPr>
        <p:spPr/>
        <p:txBody>
          <a:bodyPr/>
          <a:lstStyle/>
          <a:p>
            <a:r>
              <a:rPr lang="en-IN" b="0" i="0" dirty="0">
                <a:effectLst/>
                <a:latin typeface="Poppins" panose="020B0502040204020203" pitchFamily="2" charset="0"/>
              </a:rPr>
              <a:t>What Is Contract Management?</a:t>
            </a:r>
            <a:br>
              <a:rPr lang="en-IN" b="0" i="0" dirty="0">
                <a:solidFill>
                  <a:srgbClr val="2D9CA2"/>
                </a:solidFill>
                <a:effectLst/>
                <a:latin typeface="Poppins" panose="020B0502040204020203" pitchFamily="2" charset="0"/>
              </a:rPr>
            </a:br>
            <a:endParaRPr lang="en-IN" dirty="0"/>
          </a:p>
        </p:txBody>
      </p:sp>
      <p:sp>
        <p:nvSpPr>
          <p:cNvPr id="3" name="Content Placeholder 2">
            <a:extLst>
              <a:ext uri="{FF2B5EF4-FFF2-40B4-BE49-F238E27FC236}">
                <a16:creationId xmlns:a16="http://schemas.microsoft.com/office/drawing/2014/main" id="{F0F3BE22-787E-3A60-A8FA-F892D81A8855}"/>
              </a:ext>
            </a:extLst>
          </p:cNvPr>
          <p:cNvSpPr>
            <a:spLocks noGrp="1"/>
          </p:cNvSpPr>
          <p:nvPr>
            <p:ph idx="1"/>
          </p:nvPr>
        </p:nvSpPr>
        <p:spPr/>
        <p:txBody>
          <a:bodyPr>
            <a:normAutofit lnSpcReduction="10000"/>
          </a:bodyPr>
          <a:lstStyle/>
          <a:p>
            <a:pPr marL="0" indent="0" algn="just">
              <a:lnSpc>
                <a:spcPct val="150000"/>
              </a:lnSpc>
              <a:buNone/>
            </a:pPr>
            <a:r>
              <a:rPr lang="en-US" b="0" i="0" dirty="0">
                <a:solidFill>
                  <a:srgbClr val="444444"/>
                </a:solidFill>
                <a:effectLst/>
                <a:latin typeface="Poppins" panose="00000500000000000000" pitchFamily="2" charset="0"/>
              </a:rPr>
              <a:t>	Contract management is an essential component of software project management that ensures that agreements between parties are properly defined, documented, and executed. With the increasing complexity of software projects, it’s crucial to have a clear understanding of contract management to manage the project efficiently. </a:t>
            </a:r>
            <a:endParaRPr lang="en-IN" dirty="0"/>
          </a:p>
        </p:txBody>
      </p:sp>
    </p:spTree>
    <p:extLst>
      <p:ext uri="{BB962C8B-B14F-4D97-AF65-F5344CB8AC3E}">
        <p14:creationId xmlns:p14="http://schemas.microsoft.com/office/powerpoint/2010/main" val="1535073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DC8CA-A61D-1DD1-396C-70A24E0C7C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D2E6A5E-1A27-DA69-09A6-D802EBC016FE}"/>
              </a:ext>
            </a:extLst>
          </p:cNvPr>
          <p:cNvSpPr>
            <a:spLocks noGrp="1"/>
          </p:cNvSpPr>
          <p:nvPr>
            <p:ph idx="1"/>
          </p:nvPr>
        </p:nvSpPr>
        <p:spPr/>
        <p:txBody>
          <a:bodyPr/>
          <a:lstStyle/>
          <a:p>
            <a:pPr marL="0" indent="0" algn="just">
              <a:buNone/>
            </a:pPr>
            <a:r>
              <a:rPr lang="en-US" b="0" i="0" dirty="0">
                <a:effectLst/>
                <a:latin typeface="Poppins" panose="00000500000000000000" pitchFamily="2" charset="0"/>
              </a:rPr>
              <a:t>What is contract management?</a:t>
            </a:r>
          </a:p>
          <a:p>
            <a:pPr marL="0" indent="0" algn="just">
              <a:buNone/>
            </a:pPr>
            <a:endParaRPr lang="en-US" b="0" i="0" dirty="0">
              <a:solidFill>
                <a:srgbClr val="2D9CA2"/>
              </a:solidFill>
              <a:effectLst/>
              <a:latin typeface="Poppins" panose="00000500000000000000" pitchFamily="2" charset="0"/>
            </a:endParaRPr>
          </a:p>
          <a:p>
            <a:pPr marL="0" indent="0" algn="just">
              <a:lnSpc>
                <a:spcPct val="150000"/>
              </a:lnSpc>
              <a:buNone/>
            </a:pPr>
            <a:r>
              <a:rPr lang="en-US" b="0" i="0" dirty="0">
                <a:solidFill>
                  <a:srgbClr val="444444"/>
                </a:solidFill>
                <a:effectLst/>
                <a:latin typeface="Poppins" panose="00000500000000000000" pitchFamily="2" charset="0"/>
              </a:rPr>
              <a:t>What is contract management? In software project management, contract management is the process of systematically and efficiently managing the creation, execution, and analysis of contracts.</a:t>
            </a:r>
          </a:p>
          <a:p>
            <a:endParaRPr lang="en-IN" dirty="0"/>
          </a:p>
        </p:txBody>
      </p:sp>
    </p:spTree>
    <p:extLst>
      <p:ext uri="{BB962C8B-B14F-4D97-AF65-F5344CB8AC3E}">
        <p14:creationId xmlns:p14="http://schemas.microsoft.com/office/powerpoint/2010/main" val="1863203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334F3-DB38-0723-D8F7-BDE1F79ECEC4}"/>
              </a:ext>
            </a:extLst>
          </p:cNvPr>
          <p:cNvSpPr>
            <a:spLocks noGrp="1"/>
          </p:cNvSpPr>
          <p:nvPr>
            <p:ph type="title"/>
          </p:nvPr>
        </p:nvSpPr>
        <p:spPr/>
        <p:txBody>
          <a:bodyPr>
            <a:normAutofit/>
          </a:bodyPr>
          <a:lstStyle/>
          <a:p>
            <a:r>
              <a:rPr lang="en-US" sz="3200" b="1" i="0" dirty="0">
                <a:solidFill>
                  <a:srgbClr val="444444"/>
                </a:solidFill>
                <a:effectLst/>
                <a:latin typeface="Arial" panose="020B0604020202020204" pitchFamily="34" charset="0"/>
                <a:cs typeface="Arial" panose="020B0604020202020204" pitchFamily="34" charset="0"/>
              </a:rPr>
              <a:t>There are several key elements to successful contract management:</a:t>
            </a:r>
            <a:endParaRPr lang="en-IN" sz="32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75C81B1-F141-1C25-493A-AE7CC5B5ABAB}"/>
              </a:ext>
            </a:extLst>
          </p:cNvPr>
          <p:cNvSpPr>
            <a:spLocks noGrp="1"/>
          </p:cNvSpPr>
          <p:nvPr>
            <p:ph idx="1"/>
          </p:nvPr>
        </p:nvSpPr>
        <p:spPr/>
        <p:txBody>
          <a:bodyPr>
            <a:normAutofit fontScale="77500" lnSpcReduction="20000"/>
          </a:bodyPr>
          <a:lstStyle/>
          <a:p>
            <a:pPr algn="just"/>
            <a:r>
              <a:rPr lang="en-US" b="1" i="0" dirty="0">
                <a:solidFill>
                  <a:srgbClr val="444444"/>
                </a:solidFill>
                <a:effectLst/>
                <a:latin typeface="Poppins" panose="00000500000000000000" pitchFamily="2" charset="0"/>
              </a:rPr>
              <a:t>Contract creation: </a:t>
            </a:r>
            <a:r>
              <a:rPr lang="en-US" b="0" i="0" dirty="0">
                <a:solidFill>
                  <a:srgbClr val="444444"/>
                </a:solidFill>
                <a:effectLst/>
                <a:latin typeface="Poppins" panose="00000500000000000000" pitchFamily="2" charset="0"/>
              </a:rPr>
              <a:t>At the outset, contracts should be carefully crafted to ensure that all necessary provisions, clauses, and terms are included. This may involve negotiating with various stakeholders involved in the project.</a:t>
            </a:r>
          </a:p>
          <a:p>
            <a:pPr algn="just"/>
            <a:r>
              <a:rPr lang="en-US" b="1" i="0" dirty="0">
                <a:solidFill>
                  <a:srgbClr val="444444"/>
                </a:solidFill>
                <a:effectLst/>
                <a:latin typeface="Poppins" panose="00000500000000000000" pitchFamily="2" charset="0"/>
              </a:rPr>
              <a:t>Contract execution: </a:t>
            </a:r>
            <a:r>
              <a:rPr lang="en-US" b="0" i="0" dirty="0">
                <a:solidFill>
                  <a:srgbClr val="444444"/>
                </a:solidFill>
                <a:effectLst/>
                <a:latin typeface="Poppins" panose="00000500000000000000" pitchFamily="2" charset="0"/>
              </a:rPr>
              <a:t>Once the contract has been created, it must be signed by all parties involved. This ensures that everyone is in agreement with the terms of the contract and is legally bound to adhere to them.</a:t>
            </a:r>
          </a:p>
          <a:p>
            <a:pPr algn="just"/>
            <a:r>
              <a:rPr lang="en-US" b="1" i="0" dirty="0">
                <a:solidFill>
                  <a:srgbClr val="444444"/>
                </a:solidFill>
                <a:effectLst/>
                <a:latin typeface="Poppins" panose="00000500000000000000" pitchFamily="2" charset="0"/>
              </a:rPr>
              <a:t>Contract administration: </a:t>
            </a:r>
            <a:r>
              <a:rPr lang="en-US" b="0" i="0" dirty="0">
                <a:solidFill>
                  <a:srgbClr val="444444"/>
                </a:solidFill>
                <a:effectLst/>
                <a:latin typeface="Poppins" panose="00000500000000000000" pitchFamily="2" charset="0"/>
              </a:rPr>
              <a:t>During the life of the contract, it is important to monitor performance and ensure that all parties are meeting their obligations. This may involve tracking key metrics or milestones and addressing any issues that arise.</a:t>
            </a:r>
          </a:p>
          <a:p>
            <a:pPr algn="just"/>
            <a:r>
              <a:rPr lang="en-US" b="1" i="0" dirty="0">
                <a:solidFill>
                  <a:srgbClr val="444444"/>
                </a:solidFill>
                <a:effectLst/>
                <a:latin typeface="Poppins" panose="00000500000000000000" pitchFamily="2" charset="0"/>
              </a:rPr>
              <a:t>Contract analysis: </a:t>
            </a:r>
            <a:r>
              <a:rPr lang="en-US" b="0" i="0" dirty="0">
                <a:solidFill>
                  <a:srgbClr val="444444"/>
                </a:solidFill>
                <a:effectLst/>
                <a:latin typeface="Poppins" panose="00000500000000000000" pitchFamily="2" charset="0"/>
              </a:rPr>
              <a:t>Once the contract has been fulfilled, it is important to analyze the outcomes and assess the success of the project. This can inform future contract management efforts and help refine the process for future projects.</a:t>
            </a:r>
          </a:p>
          <a:p>
            <a:endParaRPr lang="en-IN" dirty="0"/>
          </a:p>
        </p:txBody>
      </p:sp>
    </p:spTree>
    <p:extLst>
      <p:ext uri="{BB962C8B-B14F-4D97-AF65-F5344CB8AC3E}">
        <p14:creationId xmlns:p14="http://schemas.microsoft.com/office/powerpoint/2010/main" val="1731234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EAE57-860C-057D-6421-60EE8C32305B}"/>
              </a:ext>
            </a:extLst>
          </p:cNvPr>
          <p:cNvSpPr>
            <a:spLocks noGrp="1"/>
          </p:cNvSpPr>
          <p:nvPr>
            <p:ph type="title"/>
          </p:nvPr>
        </p:nvSpPr>
        <p:spPr>
          <a:xfrm>
            <a:off x="838200" y="365125"/>
            <a:ext cx="10515600" cy="864961"/>
          </a:xfrm>
        </p:spPr>
        <p:txBody>
          <a:bodyPr>
            <a:normAutofit fontScale="90000"/>
          </a:bodyPr>
          <a:lstStyle/>
          <a:p>
            <a:r>
              <a:rPr lang="en-IN" b="0" i="0" dirty="0">
                <a:solidFill>
                  <a:srgbClr val="444444"/>
                </a:solidFill>
                <a:effectLst/>
                <a:latin typeface="Poppins" panose="00000500000000000000" pitchFamily="2" charset="0"/>
              </a:rPr>
              <a:t>Components of Contract Management:</a:t>
            </a:r>
            <a:endParaRPr lang="en-IN" dirty="0"/>
          </a:p>
        </p:txBody>
      </p:sp>
      <p:sp>
        <p:nvSpPr>
          <p:cNvPr id="3" name="Content Placeholder 2">
            <a:extLst>
              <a:ext uri="{FF2B5EF4-FFF2-40B4-BE49-F238E27FC236}">
                <a16:creationId xmlns:a16="http://schemas.microsoft.com/office/drawing/2014/main" id="{287E54B7-7986-EB5F-262E-82B9854CD476}"/>
              </a:ext>
            </a:extLst>
          </p:cNvPr>
          <p:cNvSpPr>
            <a:spLocks noGrp="1"/>
          </p:cNvSpPr>
          <p:nvPr>
            <p:ph idx="1"/>
          </p:nvPr>
        </p:nvSpPr>
        <p:spPr>
          <a:xfrm>
            <a:off x="838200" y="1230086"/>
            <a:ext cx="10515600" cy="5355771"/>
          </a:xfrm>
        </p:spPr>
        <p:txBody>
          <a:bodyPr>
            <a:normAutofit fontScale="62500" lnSpcReduction="20000"/>
          </a:bodyPr>
          <a:lstStyle/>
          <a:p>
            <a:pPr marL="0" indent="0" algn="just">
              <a:buNone/>
            </a:pPr>
            <a:r>
              <a:rPr lang="en-US" sz="3200" b="1" i="0" dirty="0">
                <a:solidFill>
                  <a:srgbClr val="444444"/>
                </a:solidFill>
                <a:effectLst/>
                <a:latin typeface="Poppins" panose="00000500000000000000" pitchFamily="2" charset="0"/>
              </a:rPr>
              <a:t>Contract Administration:</a:t>
            </a:r>
          </a:p>
          <a:p>
            <a:pPr marL="0" indent="0" algn="just">
              <a:buNone/>
            </a:pPr>
            <a:r>
              <a:rPr lang="en-US" b="0" i="0" dirty="0">
                <a:solidFill>
                  <a:srgbClr val="444444"/>
                </a:solidFill>
                <a:effectLst/>
                <a:latin typeface="Poppins" panose="00000500000000000000" pitchFamily="2" charset="0"/>
              </a:rPr>
              <a:t>Contract administration involves the review and management of the contract terms and conditions, negotiation, and signing the contract. It is the first stage of contract management that determines the scope, timeline, and budget for the project.</a:t>
            </a:r>
          </a:p>
          <a:p>
            <a:pPr marL="0" indent="0" algn="just">
              <a:buNone/>
            </a:pPr>
            <a:endParaRPr lang="en-US" b="0" i="0" dirty="0">
              <a:solidFill>
                <a:srgbClr val="444444"/>
              </a:solidFill>
              <a:effectLst/>
              <a:latin typeface="Poppins" panose="00000500000000000000" pitchFamily="2" charset="0"/>
            </a:endParaRPr>
          </a:p>
          <a:p>
            <a:pPr marL="0" indent="0" algn="just">
              <a:buNone/>
            </a:pPr>
            <a:r>
              <a:rPr lang="en-US" b="1" i="0" dirty="0">
                <a:solidFill>
                  <a:srgbClr val="444444"/>
                </a:solidFill>
                <a:effectLst/>
                <a:latin typeface="Poppins" panose="00000500000000000000" pitchFamily="2" charset="0"/>
              </a:rPr>
              <a:t>Contract Monitoring:</a:t>
            </a:r>
          </a:p>
          <a:p>
            <a:pPr marL="0" indent="0" algn="just">
              <a:buNone/>
            </a:pPr>
            <a:r>
              <a:rPr lang="en-US" b="0" i="0" dirty="0">
                <a:solidFill>
                  <a:srgbClr val="444444"/>
                </a:solidFill>
                <a:effectLst/>
                <a:latin typeface="Poppins" panose="00000500000000000000" pitchFamily="2" charset="0"/>
              </a:rPr>
              <a:t>Contract monitoring involves regular check-ins or status updates to monitor the project’s progress, compare it to the anticipated results, and ensure that the project is on track. This step helps reduce risks and ensures a consistent and high-quality project outcome.</a:t>
            </a:r>
          </a:p>
          <a:p>
            <a:pPr marL="0" indent="0" algn="just">
              <a:buNone/>
            </a:pPr>
            <a:endParaRPr lang="en-US" b="0" i="0" dirty="0">
              <a:solidFill>
                <a:srgbClr val="444444"/>
              </a:solidFill>
              <a:effectLst/>
              <a:latin typeface="Poppins" panose="00000500000000000000" pitchFamily="2" charset="0"/>
            </a:endParaRPr>
          </a:p>
          <a:p>
            <a:pPr marL="0" indent="0" algn="just">
              <a:buNone/>
            </a:pPr>
            <a:r>
              <a:rPr lang="en-US" b="1" i="0" dirty="0">
                <a:solidFill>
                  <a:srgbClr val="444444"/>
                </a:solidFill>
                <a:effectLst/>
                <a:latin typeface="Poppins" panose="00000500000000000000" pitchFamily="2" charset="0"/>
              </a:rPr>
              <a:t>Deliverables Management:</a:t>
            </a:r>
          </a:p>
          <a:p>
            <a:pPr marL="0" indent="0" algn="just">
              <a:buNone/>
            </a:pPr>
            <a:endParaRPr lang="en-US" b="1" i="0" dirty="0">
              <a:solidFill>
                <a:srgbClr val="444444"/>
              </a:solidFill>
              <a:effectLst/>
              <a:latin typeface="Poppins" panose="00000500000000000000" pitchFamily="2" charset="0"/>
            </a:endParaRPr>
          </a:p>
          <a:p>
            <a:pPr marL="0" indent="0" algn="just">
              <a:buNone/>
            </a:pPr>
            <a:r>
              <a:rPr lang="en-US" b="0" i="0" dirty="0">
                <a:solidFill>
                  <a:srgbClr val="444444"/>
                </a:solidFill>
                <a:effectLst/>
                <a:latin typeface="Poppins" panose="00000500000000000000" pitchFamily="2" charset="0"/>
              </a:rPr>
              <a:t>Deliverables management includes defining the project’s requirements, terms and conditions, finalizing the deliverables, and monitoring progress to ensure that the project scope is delivered according to the contract specifications.</a:t>
            </a:r>
          </a:p>
          <a:p>
            <a:pPr marL="0" indent="0" algn="just">
              <a:buNone/>
            </a:pPr>
            <a:r>
              <a:rPr lang="en-US" b="1" i="0" dirty="0">
                <a:solidFill>
                  <a:srgbClr val="444444"/>
                </a:solidFill>
                <a:effectLst/>
                <a:latin typeface="Poppins" panose="00000500000000000000" pitchFamily="2" charset="0"/>
              </a:rPr>
              <a:t>Risk Management:</a:t>
            </a:r>
          </a:p>
          <a:p>
            <a:pPr marL="0" indent="0" algn="just">
              <a:buNone/>
            </a:pPr>
            <a:endParaRPr lang="en-US" b="1" i="0" dirty="0">
              <a:solidFill>
                <a:srgbClr val="444444"/>
              </a:solidFill>
              <a:effectLst/>
              <a:latin typeface="Poppins" panose="00000500000000000000" pitchFamily="2" charset="0"/>
            </a:endParaRPr>
          </a:p>
          <a:p>
            <a:pPr marL="0" indent="0" algn="just">
              <a:buNone/>
            </a:pPr>
            <a:r>
              <a:rPr lang="en-US" b="0" i="0" dirty="0">
                <a:solidFill>
                  <a:srgbClr val="444444"/>
                </a:solidFill>
                <a:effectLst/>
                <a:latin typeface="Poppins" panose="00000500000000000000" pitchFamily="2" charset="0"/>
              </a:rPr>
              <a:t>Risk management involves assessing risks, developing risk mitigation strategies, and addressing problems to minimize the impact of potential risks. It is essential for successful contract management, especially in complex software projects.</a:t>
            </a:r>
          </a:p>
          <a:p>
            <a:endParaRPr lang="en-IN" dirty="0"/>
          </a:p>
        </p:txBody>
      </p:sp>
    </p:spTree>
    <p:extLst>
      <p:ext uri="{BB962C8B-B14F-4D97-AF65-F5344CB8AC3E}">
        <p14:creationId xmlns:p14="http://schemas.microsoft.com/office/powerpoint/2010/main" val="2198695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B1AC0-2EBE-F98A-9BF5-E21378C206BC}"/>
              </a:ext>
            </a:extLst>
          </p:cNvPr>
          <p:cNvSpPr>
            <a:spLocks noGrp="1"/>
          </p:cNvSpPr>
          <p:nvPr>
            <p:ph type="title"/>
          </p:nvPr>
        </p:nvSpPr>
        <p:spPr/>
        <p:txBody>
          <a:bodyPr>
            <a:normAutofit fontScale="90000"/>
          </a:bodyPr>
          <a:lstStyle/>
          <a:p>
            <a:r>
              <a:rPr lang="en-US" b="0" i="0" dirty="0">
                <a:effectLst/>
                <a:latin typeface="Poppins" panose="00000500000000000000" pitchFamily="2" charset="0"/>
              </a:rPr>
              <a:t>How does contract management fit into software project management?</a:t>
            </a:r>
            <a:br>
              <a:rPr lang="en-US" b="0" i="0" dirty="0">
                <a:solidFill>
                  <a:srgbClr val="2D9CA2"/>
                </a:solidFill>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60415999-23D1-BF05-135B-60ED0115E275}"/>
              </a:ext>
            </a:extLst>
          </p:cNvPr>
          <p:cNvSpPr>
            <a:spLocks noGrp="1"/>
          </p:cNvSpPr>
          <p:nvPr>
            <p:ph idx="1"/>
          </p:nvPr>
        </p:nvSpPr>
        <p:spPr/>
        <p:txBody>
          <a:bodyPr/>
          <a:lstStyle/>
          <a:p>
            <a:pPr marL="0" indent="0" algn="just">
              <a:buNone/>
            </a:pPr>
            <a:r>
              <a:rPr lang="en-US" b="0" i="0" dirty="0">
                <a:solidFill>
                  <a:srgbClr val="444444"/>
                </a:solidFill>
                <a:effectLst/>
                <a:latin typeface="Poppins" panose="00000500000000000000" pitchFamily="2" charset="0"/>
              </a:rPr>
              <a:t>As with any project management process, </a:t>
            </a:r>
            <a:r>
              <a:rPr lang="en-US" b="0" i="0" u="none" strike="noStrike" dirty="0">
                <a:effectLst/>
                <a:latin typeface="Poppins" panose="00000500000000000000" pitchFamily="2" charset="0"/>
              </a:rPr>
              <a:t>contract management plays a vital role</a:t>
            </a:r>
            <a:r>
              <a:rPr lang="en-US" b="0" i="0" dirty="0">
                <a:effectLst/>
                <a:latin typeface="Poppins" panose="00000500000000000000" pitchFamily="2" charset="0"/>
              </a:rPr>
              <a:t> in the success </a:t>
            </a:r>
            <a:r>
              <a:rPr lang="en-US" b="0" i="0" dirty="0">
                <a:solidFill>
                  <a:srgbClr val="444444"/>
                </a:solidFill>
                <a:effectLst/>
                <a:latin typeface="Poppins" panose="00000500000000000000" pitchFamily="2" charset="0"/>
              </a:rPr>
              <a:t>of software project management. Software projects are complex and require a wide range of skills and expertise, which are often not available within one organization. This is where contract management comes in: it allows organizations to outsource some or all of their software development work to third-party vendors.</a:t>
            </a:r>
            <a:endParaRPr lang="en-IN" dirty="0"/>
          </a:p>
        </p:txBody>
      </p:sp>
    </p:spTree>
    <p:extLst>
      <p:ext uri="{BB962C8B-B14F-4D97-AF65-F5344CB8AC3E}">
        <p14:creationId xmlns:p14="http://schemas.microsoft.com/office/powerpoint/2010/main" val="3665617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4E40-8534-4574-107C-BDAF24799891}"/>
              </a:ext>
            </a:extLst>
          </p:cNvPr>
          <p:cNvSpPr>
            <a:spLocks noGrp="1"/>
          </p:cNvSpPr>
          <p:nvPr>
            <p:ph type="title"/>
          </p:nvPr>
        </p:nvSpPr>
        <p:spPr/>
        <p:txBody>
          <a:bodyPr>
            <a:normAutofit fontScale="90000"/>
          </a:bodyPr>
          <a:lstStyle/>
          <a:p>
            <a:r>
              <a:rPr lang="en-US" sz="3600" b="0" i="0" dirty="0">
                <a:effectLst/>
                <a:latin typeface="Poppins" panose="00000500000000000000" pitchFamily="2" charset="0"/>
              </a:rPr>
              <a:t>Benefits of Contract Management in Software Project Management</a:t>
            </a:r>
            <a:br>
              <a:rPr lang="en-US" b="0" i="0" dirty="0">
                <a:solidFill>
                  <a:srgbClr val="2D9CA2"/>
                </a:solidFill>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501AA832-AE4D-30C6-DEC6-FEEE9DD73D78}"/>
              </a:ext>
            </a:extLst>
          </p:cNvPr>
          <p:cNvSpPr>
            <a:spLocks noGrp="1"/>
          </p:cNvSpPr>
          <p:nvPr>
            <p:ph idx="1"/>
          </p:nvPr>
        </p:nvSpPr>
        <p:spPr>
          <a:xfrm>
            <a:off x="373626" y="1337187"/>
            <a:ext cx="11107994" cy="5410047"/>
          </a:xfrm>
        </p:spPr>
        <p:txBody>
          <a:bodyPr>
            <a:normAutofit fontScale="77500" lnSpcReduction="20000"/>
          </a:bodyPr>
          <a:lstStyle/>
          <a:p>
            <a:pPr marL="0" indent="0">
              <a:buNone/>
            </a:pPr>
            <a:r>
              <a:rPr lang="en-US" dirty="0"/>
              <a:t>Effective contract management ensures that all parties involved in the project have a clear understanding of their responsibilities and obligations, which helps to prevent unnecessary conflicts and disputes. There are numerous benefits of contract management in software project management, including:</a:t>
            </a:r>
          </a:p>
          <a:p>
            <a:endParaRPr lang="en-US" dirty="0"/>
          </a:p>
          <a:p>
            <a:pPr marL="0" indent="0">
              <a:buNone/>
            </a:pPr>
            <a:r>
              <a:rPr lang="en-US" dirty="0"/>
              <a:t>1. </a:t>
            </a:r>
            <a:r>
              <a:rPr lang="en-US" b="1" dirty="0"/>
              <a:t>Improved Vendor Management: </a:t>
            </a:r>
            <a:r>
              <a:rPr lang="en-US" dirty="0"/>
              <a:t>Contract management ensures that all vendor contracts are managed effectively, reducing the risk of delays, quality issues, and cost overruns.</a:t>
            </a:r>
          </a:p>
          <a:p>
            <a:pPr marL="0" indent="0">
              <a:buNone/>
            </a:pPr>
            <a:r>
              <a:rPr lang="en-US" dirty="0"/>
              <a:t>2. </a:t>
            </a:r>
            <a:r>
              <a:rPr lang="en-US" b="1" dirty="0"/>
              <a:t>Better Project Control: </a:t>
            </a:r>
            <a:r>
              <a:rPr lang="en-US" dirty="0"/>
              <a:t>Contract management allows project managers to maintain greater control over the project’s budget and schedule by providing a clear understanding of the timelines, milestones, and payment terms.</a:t>
            </a:r>
          </a:p>
          <a:p>
            <a:pPr marL="0" indent="0">
              <a:buNone/>
            </a:pPr>
            <a:r>
              <a:rPr lang="en-US" dirty="0"/>
              <a:t>3. </a:t>
            </a:r>
            <a:r>
              <a:rPr lang="en-US" b="1" dirty="0"/>
              <a:t>Reduced Risk: </a:t>
            </a:r>
            <a:r>
              <a:rPr lang="en-US" dirty="0"/>
              <a:t>Effective contract management reduces the risk of legal, financial, and reputational issues by ensuring that all parties involved in the project comply with the agreed-upon terms and conditions.</a:t>
            </a:r>
          </a:p>
          <a:p>
            <a:pPr marL="0" indent="0">
              <a:buNone/>
            </a:pPr>
            <a:r>
              <a:rPr lang="en-US" dirty="0"/>
              <a:t>4. </a:t>
            </a:r>
            <a:r>
              <a:rPr lang="en-US" b="1" dirty="0"/>
              <a:t>Enhanced Communication: </a:t>
            </a:r>
            <a:r>
              <a:rPr lang="en-US" dirty="0"/>
              <a:t>Contract management promotes better communication between project team members, stakeholders, and vendors, helping to ensure that everyone is on the same page.</a:t>
            </a:r>
          </a:p>
          <a:p>
            <a:pPr marL="0" indent="0">
              <a:buNone/>
            </a:pPr>
            <a:r>
              <a:rPr lang="en-US" dirty="0"/>
              <a:t>5. </a:t>
            </a:r>
            <a:r>
              <a:rPr lang="en-US" b="1" dirty="0"/>
              <a:t>Increased Transparency: </a:t>
            </a:r>
            <a:r>
              <a:rPr lang="en-US" dirty="0"/>
              <a:t>Contract management provides greater transparency into project activities, ensuring that all parties involved have access to the right information at the right time.</a:t>
            </a:r>
          </a:p>
        </p:txBody>
      </p:sp>
    </p:spTree>
    <p:extLst>
      <p:ext uri="{BB962C8B-B14F-4D97-AF65-F5344CB8AC3E}">
        <p14:creationId xmlns:p14="http://schemas.microsoft.com/office/powerpoint/2010/main" val="1707249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76316-443B-4095-5EDB-78CFED55A365}"/>
              </a:ext>
            </a:extLst>
          </p:cNvPr>
          <p:cNvSpPr>
            <a:spLocks noGrp="1"/>
          </p:cNvSpPr>
          <p:nvPr>
            <p:ph type="title"/>
          </p:nvPr>
        </p:nvSpPr>
        <p:spPr/>
        <p:txBody>
          <a:bodyPr>
            <a:normAutofit fontScale="90000"/>
          </a:bodyPr>
          <a:lstStyle/>
          <a:p>
            <a:r>
              <a:rPr lang="en-US" b="0" i="0" dirty="0">
                <a:effectLst/>
                <a:latin typeface="Poppins" panose="00000500000000000000" pitchFamily="2" charset="0"/>
              </a:rPr>
              <a:t>Contract Management Tools Used in Software Project Management</a:t>
            </a:r>
            <a:br>
              <a:rPr lang="en-US" b="0" i="0" dirty="0">
                <a:solidFill>
                  <a:srgbClr val="2D9CA2"/>
                </a:solidFill>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731C1C1E-7BC8-AB7F-403C-3FCBD159813D}"/>
              </a:ext>
            </a:extLst>
          </p:cNvPr>
          <p:cNvSpPr>
            <a:spLocks noGrp="1"/>
          </p:cNvSpPr>
          <p:nvPr>
            <p:ph idx="1"/>
          </p:nvPr>
        </p:nvSpPr>
        <p:spPr/>
        <p:txBody>
          <a:bodyPr/>
          <a:lstStyle/>
          <a:p>
            <a:pPr algn="just"/>
            <a:r>
              <a:rPr lang="en-IN" b="0" i="0" dirty="0">
                <a:effectLst/>
                <a:latin typeface="Poppins" panose="00000500000000000000" pitchFamily="2" charset="0"/>
              </a:rPr>
              <a:t>Electronic signature software</a:t>
            </a:r>
          </a:p>
          <a:p>
            <a:r>
              <a:rPr lang="en-IN" b="0" i="0" dirty="0">
                <a:effectLst/>
                <a:latin typeface="Poppins" panose="00000500000000000000" pitchFamily="2" charset="0"/>
              </a:rPr>
              <a:t>Contract Lifecycle Management (CLM) software</a:t>
            </a:r>
          </a:p>
          <a:p>
            <a:r>
              <a:rPr lang="en-IN" b="0" i="0" dirty="0">
                <a:effectLst/>
                <a:latin typeface="Poppins" panose="00000500000000000000" pitchFamily="2" charset="0"/>
              </a:rPr>
              <a:t>Proposal automation software</a:t>
            </a:r>
          </a:p>
          <a:p>
            <a:r>
              <a:rPr lang="en-US" b="0" i="0" dirty="0">
                <a:effectLst/>
                <a:latin typeface="Poppins" panose="00000500000000000000" pitchFamily="2" charset="0"/>
              </a:rPr>
              <a:t>Negotiation and dispute resolution software</a:t>
            </a:r>
          </a:p>
          <a:p>
            <a:endParaRPr lang="en-IN" dirty="0"/>
          </a:p>
        </p:txBody>
      </p:sp>
    </p:spTree>
    <p:extLst>
      <p:ext uri="{BB962C8B-B14F-4D97-AF65-F5344CB8AC3E}">
        <p14:creationId xmlns:p14="http://schemas.microsoft.com/office/powerpoint/2010/main" val="887531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44315-D79D-EBBF-58A4-1D2BB6D5980E}"/>
              </a:ext>
            </a:extLst>
          </p:cNvPr>
          <p:cNvSpPr>
            <a:spLocks noGrp="1"/>
          </p:cNvSpPr>
          <p:nvPr>
            <p:ph type="title"/>
          </p:nvPr>
        </p:nvSpPr>
        <p:spPr/>
        <p:txBody>
          <a:bodyPr>
            <a:normAutofit fontScale="90000"/>
          </a:bodyPr>
          <a:lstStyle/>
          <a:p>
            <a:r>
              <a:rPr lang="en-US" b="0" i="0" dirty="0">
                <a:effectLst/>
                <a:latin typeface="Poppins" panose="00000500000000000000" pitchFamily="2" charset="0"/>
              </a:rPr>
              <a:t>Challenges of Contract Management in Software Project Management</a:t>
            </a:r>
            <a:br>
              <a:rPr lang="en-US" b="0" i="0" dirty="0">
                <a:solidFill>
                  <a:srgbClr val="2D9CA2"/>
                </a:solidFill>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65D1218B-0C8C-D688-3CC0-0FFFA3F88DE6}"/>
              </a:ext>
            </a:extLst>
          </p:cNvPr>
          <p:cNvSpPr>
            <a:spLocks noGrp="1"/>
          </p:cNvSpPr>
          <p:nvPr>
            <p:ph idx="1"/>
          </p:nvPr>
        </p:nvSpPr>
        <p:spPr/>
        <p:txBody>
          <a:bodyPr/>
          <a:lstStyle/>
          <a:p>
            <a:r>
              <a:rPr lang="en-US" b="0" i="0" dirty="0">
                <a:effectLst/>
                <a:latin typeface="Poppins" panose="00000500000000000000" pitchFamily="2" charset="0"/>
              </a:rPr>
              <a:t>Ensuring compliance with industry standards:</a:t>
            </a:r>
          </a:p>
          <a:p>
            <a:r>
              <a:rPr lang="en-IN" b="0" i="0" dirty="0">
                <a:effectLst/>
                <a:latin typeface="Poppins" panose="00000500000000000000" pitchFamily="2" charset="0"/>
              </a:rPr>
              <a:t>Balancing flexibility and control:</a:t>
            </a:r>
            <a:endParaRPr lang="en-US" b="0" i="0" dirty="0">
              <a:effectLst/>
              <a:latin typeface="Poppins" panose="00000500000000000000" pitchFamily="2" charset="0"/>
            </a:endParaRPr>
          </a:p>
          <a:p>
            <a:r>
              <a:rPr lang="en-IN" b="0" i="0" dirty="0">
                <a:effectLst/>
                <a:latin typeface="Poppins" panose="00000500000000000000" pitchFamily="2" charset="0"/>
              </a:rPr>
              <a:t>Lack of standardization</a:t>
            </a:r>
          </a:p>
          <a:p>
            <a:r>
              <a:rPr lang="en-US" b="0" i="0" dirty="0">
                <a:effectLst/>
                <a:latin typeface="Poppins" panose="00000500000000000000" pitchFamily="2" charset="0"/>
              </a:rPr>
              <a:t>Lack of education and training</a:t>
            </a:r>
          </a:p>
          <a:p>
            <a:r>
              <a:rPr lang="en-US" b="0" i="0" dirty="0">
                <a:effectLst/>
                <a:latin typeface="Poppins" panose="00000500000000000000" pitchFamily="2" charset="0"/>
              </a:rPr>
              <a:t>Difficulty in managing multiple contracts</a:t>
            </a:r>
          </a:p>
          <a:p>
            <a:r>
              <a:rPr lang="en-IN" b="0" i="0" dirty="0">
                <a:effectLst/>
                <a:latin typeface="Poppins" panose="00000500000000000000" pitchFamily="2" charset="0"/>
              </a:rPr>
              <a:t>Time-consuming and complex process</a:t>
            </a:r>
          </a:p>
          <a:p>
            <a:endParaRPr lang="en-IN" dirty="0"/>
          </a:p>
        </p:txBody>
      </p:sp>
    </p:spTree>
    <p:extLst>
      <p:ext uri="{BB962C8B-B14F-4D97-AF65-F5344CB8AC3E}">
        <p14:creationId xmlns:p14="http://schemas.microsoft.com/office/powerpoint/2010/main" val="3798281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800</Words>
  <Application>Microsoft Office PowerPoint</Application>
  <PresentationFormat>Widescreen</PresentationFormat>
  <Paragraphs>46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Poppins</vt:lpstr>
      <vt:lpstr>Office Theme</vt:lpstr>
      <vt:lpstr>Contract management and Technical Project Management</vt:lpstr>
      <vt:lpstr>What Is Contract Management? </vt:lpstr>
      <vt:lpstr>PowerPoint Presentation</vt:lpstr>
      <vt:lpstr>There are several key elements to successful contract management:</vt:lpstr>
      <vt:lpstr>Components of Contract Management:</vt:lpstr>
      <vt:lpstr>How does contract management fit into software project management? </vt:lpstr>
      <vt:lpstr>Benefits of Contract Management in Software Project Management </vt:lpstr>
      <vt:lpstr>Contract Management Tools Used in Software Project Management </vt:lpstr>
      <vt:lpstr>Challenges of Contract Management in Software Project Management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 management and technical</dc:title>
  <dc:creator>Ranjithkumar S</dc:creator>
  <cp:lastModifiedBy>Anto S</cp:lastModifiedBy>
  <cp:revision>12</cp:revision>
  <dcterms:created xsi:type="dcterms:W3CDTF">2024-01-12T05:03:33Z</dcterms:created>
  <dcterms:modified xsi:type="dcterms:W3CDTF">2025-12-13T09:20:03Z</dcterms:modified>
</cp:coreProperties>
</file>