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2" r:id="rId10"/>
    <p:sldId id="261" r:id="rId11"/>
    <p:sldId id="263" r:id="rId12"/>
    <p:sldId id="264" r:id="rId13"/>
    <p:sldId id="265" r:id="rId14"/>
    <p:sldId id="267" r:id="rId15"/>
    <p:sldId id="268" r:id="rId16"/>
    <p:sldId id="269" r:id="rId17"/>
    <p:sldId id="270" r:id="rId18"/>
    <p:sldId id="271" r:id="rId19"/>
    <p:sldId id="272" r:id="rId20"/>
    <p:sldId id="273" r:id="rId21"/>
    <p:sldId id="274" r:id="rId22"/>
    <p:sldId id="275" r:id="rId23"/>
    <p:sldId id="276" r:id="rId24"/>
    <p:sldId id="279" r:id="rId25"/>
    <p:sldId id="280" r:id="rId26"/>
    <p:sldId id="277" r:id="rId27"/>
    <p:sldId id="278" r:id="rId28"/>
    <p:sldId id="281" r:id="rId29"/>
    <p:sldId id="285" r:id="rId30"/>
    <p:sldId id="282" r:id="rId31"/>
    <p:sldId id="297" r:id="rId32"/>
    <p:sldId id="283" r:id="rId33"/>
    <p:sldId id="286" r:id="rId34"/>
    <p:sldId id="284" r:id="rId35"/>
    <p:sldId id="287" r:id="rId36"/>
    <p:sldId id="288" r:id="rId37"/>
    <p:sldId id="289" r:id="rId38"/>
    <p:sldId id="290" r:id="rId39"/>
    <p:sldId id="292" r:id="rId40"/>
    <p:sldId id="291" r:id="rId41"/>
    <p:sldId id="293" r:id="rId42"/>
    <p:sldId id="294" r:id="rId43"/>
    <p:sldId id="295" r:id="rId44"/>
    <p:sldId id="296" r:id="rId45"/>
    <p:sldId id="298" r:id="rId46"/>
    <p:sldId id="299" r:id="rId47"/>
    <p:sldId id="300" r:id="rId48"/>
    <p:sldId id="301"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77A1F013-A820-496B-8024-FD1AED2D3104}" type="datetimeFigureOut">
              <a:rPr lang="en-IN" smtClean="0"/>
              <a:t>07-01-2026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93221E3C-2DA8-45EA-BBE5-403D552486E6}"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7A1F013-A820-496B-8024-FD1AED2D3104}"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221E3C-2DA8-45EA-BBE5-403D552486E6}"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7A1F013-A820-496B-8024-FD1AED2D3104}" type="datetimeFigureOut">
              <a:rPr lang="en-IN" smtClean="0"/>
              <a:t>07-01-2026</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93221E3C-2DA8-45EA-BBE5-403D552486E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7A1F013-A820-496B-8024-FD1AED2D3104}"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221E3C-2DA8-45EA-BBE5-403D552486E6}"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77A1F013-A820-496B-8024-FD1AED2D3104}" type="datetimeFigureOut">
              <a:rPr lang="en-IN" smtClean="0"/>
              <a:t>07-01-2026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221E3C-2DA8-45EA-BBE5-403D552486E6}"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7A1F013-A820-496B-8024-FD1AED2D3104}" type="datetimeFigureOut">
              <a:rPr lang="en-IN" smtClean="0"/>
              <a:t>07-01-2026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221E3C-2DA8-45EA-BBE5-403D552486E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A1F013-A820-496B-8024-FD1AED2D3104}" type="datetimeFigureOut">
              <a:rPr lang="en-IN" smtClean="0"/>
              <a:t>07-01-2026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221E3C-2DA8-45EA-BBE5-403D552486E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7A1F013-A820-496B-8024-FD1AED2D3104}" type="datetimeFigureOut">
              <a:rPr lang="en-IN" smtClean="0"/>
              <a:t>07-01-2026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221E3C-2DA8-45EA-BBE5-403D552486E6}"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7A1F013-A820-496B-8024-FD1AED2D3104}" type="datetimeFigureOut">
              <a:rPr lang="en-IN" smtClean="0"/>
              <a:t>07-01-2026</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93221E3C-2DA8-45EA-BBE5-403D552486E6}"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7A1F013-A820-496B-8024-FD1AED2D3104}"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221E3C-2DA8-45EA-BBE5-403D552486E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7A1F013-A820-496B-8024-FD1AED2D3104}" type="datetimeFigureOut">
              <a:rPr lang="en-IN" smtClean="0"/>
              <a:t>07-01-2026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221E3C-2DA8-45EA-BBE5-403D552486E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7A1F013-A820-496B-8024-FD1AED2D3104}" type="datetimeFigureOut">
              <a:rPr lang="en-IN" smtClean="0"/>
              <a:t>07-01-2026</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93221E3C-2DA8-45EA-BBE5-403D552486E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IN"/>
          </a:p>
        </p:txBody>
      </p:sp>
      <p:sp>
        <p:nvSpPr>
          <p:cNvPr id="2" name="Title 1"/>
          <p:cNvSpPr>
            <a:spLocks noGrp="1"/>
          </p:cNvSpPr>
          <p:nvPr>
            <p:ph type="ctrTitle"/>
          </p:nvPr>
        </p:nvSpPr>
        <p:spPr/>
        <p:txBody>
          <a:bodyPr/>
          <a:lstStyle/>
          <a:p>
            <a:r>
              <a:rPr lang="en-US" dirty="0"/>
              <a:t>Project Estimation Technique</a:t>
            </a:r>
            <a:endParaRPr lang="en-IN" dirty="0"/>
          </a:p>
        </p:txBody>
      </p:sp>
    </p:spTree>
    <p:extLst>
      <p:ext uri="{BB962C8B-B14F-4D97-AF65-F5344CB8AC3E}">
        <p14:creationId xmlns:p14="http://schemas.microsoft.com/office/powerpoint/2010/main" val="1174477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Estimation Technique</a:t>
            </a:r>
            <a:endParaRPr lang="en-IN" dirty="0"/>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Empirical Estimation Technique</a:t>
            </a:r>
          </a:p>
          <a:p>
            <a:r>
              <a:rPr lang="en-US" dirty="0">
                <a:latin typeface="Times New Roman" pitchFamily="18" charset="0"/>
                <a:cs typeface="Times New Roman" pitchFamily="18" charset="0"/>
              </a:rPr>
              <a:t>Heuristic Estimation Technique</a:t>
            </a:r>
          </a:p>
          <a:p>
            <a:r>
              <a:rPr lang="en-US" dirty="0">
                <a:latin typeface="Times New Roman" pitchFamily="18" charset="0"/>
                <a:cs typeface="Times New Roman" pitchFamily="18" charset="0"/>
              </a:rPr>
              <a:t>Analytical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15515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Empirical Estimation Technique</a:t>
            </a:r>
            <a:endParaRPr lang="en-IN" dirty="0"/>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The Project estimation is done based on prior experience of similar products.</a:t>
            </a:r>
          </a:p>
          <a:p>
            <a:r>
              <a:rPr lang="en-US" dirty="0">
                <a:latin typeface="Times New Roman" pitchFamily="18" charset="0"/>
                <a:cs typeface="Times New Roman" pitchFamily="18" charset="0"/>
              </a:rPr>
              <a:t>Basically, two approach is used :</a:t>
            </a:r>
          </a:p>
          <a:p>
            <a:pPr lvl="1"/>
            <a:r>
              <a:rPr lang="en-US" dirty="0">
                <a:latin typeface="Times New Roman" pitchFamily="18" charset="0"/>
                <a:cs typeface="Times New Roman" pitchFamily="18" charset="0"/>
              </a:rPr>
              <a:t>Expert Judgment</a:t>
            </a:r>
          </a:p>
          <a:p>
            <a:pPr lvl="1"/>
            <a:r>
              <a:rPr lang="en-US" dirty="0">
                <a:latin typeface="Times New Roman" pitchFamily="18" charset="0"/>
                <a:cs typeface="Times New Roman" pitchFamily="18" charset="0"/>
              </a:rPr>
              <a:t>Delphi Cost Estimation.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608493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spcBef>
                <a:spcPct val="0"/>
              </a:spcBef>
            </a:pPr>
            <a:r>
              <a:rPr lang="en-US" sz="4000" dirty="0">
                <a:latin typeface="Times New Roman" pitchFamily="18" charset="0"/>
                <a:cs typeface="Times New Roman" pitchFamily="18" charset="0"/>
              </a:rPr>
              <a:t>Expert Judgment</a:t>
            </a:r>
            <a:endParaRPr lang="en-IN" sz="40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Expert makes an educated guess.</a:t>
            </a:r>
          </a:p>
          <a:p>
            <a:r>
              <a:rPr lang="en-US" dirty="0">
                <a:latin typeface="Times New Roman" pitchFamily="18" charset="0"/>
                <a:cs typeface="Times New Roman" pitchFamily="18" charset="0"/>
              </a:rPr>
              <a:t>But it is subject to human error and individual bias. </a:t>
            </a:r>
          </a:p>
          <a:p>
            <a:r>
              <a:rPr lang="en-US" dirty="0">
                <a:latin typeface="Times New Roman" pitchFamily="18" charset="0"/>
                <a:cs typeface="Times New Roman" pitchFamily="18" charset="0"/>
              </a:rPr>
              <a:t>More refined educated guess can be made by the group of expert for all modules individually.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59171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Delphi Cost Estimation</a:t>
            </a:r>
            <a:endParaRPr lang="en-IN" dirty="0"/>
          </a:p>
        </p:txBody>
      </p:sp>
      <p:sp>
        <p:nvSpPr>
          <p:cNvPr id="3" name="Content Placeholder 2"/>
          <p:cNvSpPr>
            <a:spLocks noGrp="1"/>
          </p:cNvSpPr>
          <p:nvPr>
            <p:ph sz="quarter" idx="1"/>
          </p:nvPr>
        </p:nvSpPr>
        <p:spPr/>
        <p:txBody>
          <a:bodyPr>
            <a:normAutofit/>
          </a:bodyPr>
          <a:lstStyle/>
          <a:p>
            <a:r>
              <a:rPr lang="en-US" dirty="0">
                <a:latin typeface="Times New Roman" pitchFamily="18" charset="0"/>
                <a:cs typeface="Times New Roman" pitchFamily="18" charset="0"/>
              </a:rPr>
              <a:t>This techniques also works on expert judgment but follow the iterative method.</a:t>
            </a:r>
          </a:p>
          <a:p>
            <a:r>
              <a:rPr lang="en-US" dirty="0">
                <a:latin typeface="Times New Roman" pitchFamily="18" charset="0"/>
                <a:cs typeface="Times New Roman" pitchFamily="18" charset="0"/>
              </a:rPr>
              <a:t>Delphi in software estimation takes into account the following key points :</a:t>
            </a:r>
          </a:p>
          <a:p>
            <a:pPr lvl="1"/>
            <a:r>
              <a:rPr lang="en-US" dirty="0">
                <a:latin typeface="Times New Roman" pitchFamily="18" charset="0"/>
                <a:cs typeface="Times New Roman" pitchFamily="18" charset="0"/>
              </a:rPr>
              <a:t>Expert's  and Coordinator Selection</a:t>
            </a:r>
          </a:p>
          <a:p>
            <a:pPr lvl="1"/>
            <a:r>
              <a:rPr lang="en-US" dirty="0">
                <a:latin typeface="Times New Roman" pitchFamily="18" charset="0"/>
                <a:cs typeface="Times New Roman" pitchFamily="18" charset="0"/>
              </a:rPr>
              <a:t>Briefing about the project to the experts</a:t>
            </a:r>
          </a:p>
          <a:p>
            <a:pPr lvl="1"/>
            <a:r>
              <a:rPr lang="en-US" dirty="0">
                <a:latin typeface="Times New Roman" pitchFamily="18" charset="0"/>
                <a:cs typeface="Times New Roman" pitchFamily="18" charset="0"/>
              </a:rPr>
              <a:t>Gathering an idea/estimate from the experts</a:t>
            </a:r>
          </a:p>
          <a:p>
            <a:pPr lvl="1"/>
            <a:r>
              <a:rPr lang="en-US" dirty="0">
                <a:latin typeface="Times New Roman" pitchFamily="18" charset="0"/>
                <a:cs typeface="Times New Roman" pitchFamily="18" charset="0"/>
              </a:rPr>
              <a:t>Assimilate the ideas and finalize it and submit to </a:t>
            </a:r>
            <a:r>
              <a:rPr lang="en-US" dirty="0" err="1">
                <a:latin typeface="Times New Roman" pitchFamily="18" charset="0"/>
                <a:cs typeface="Times New Roman" pitchFamily="18" charset="0"/>
              </a:rPr>
              <a:t>co-ordinator</a:t>
            </a:r>
            <a:r>
              <a:rPr lang="en-US" dirty="0">
                <a:latin typeface="Times New Roman" pitchFamily="18" charset="0"/>
                <a:cs typeface="Times New Roman" pitchFamily="18" charset="0"/>
              </a:rPr>
              <a:t>.</a:t>
            </a:r>
          </a:p>
          <a:p>
            <a:pPr lvl="1"/>
            <a:r>
              <a:rPr lang="en-US" dirty="0">
                <a:latin typeface="Times New Roman" pitchFamily="18" charset="0"/>
                <a:cs typeface="Times New Roman" pitchFamily="18" charset="0"/>
              </a:rPr>
              <a:t>Gathering of idea and estimation will continue until reach the reasonable cost of the project.  </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15859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548680"/>
            <a:ext cx="7772400" cy="5471120"/>
          </a:xfrm>
        </p:spPr>
        <p:txBody>
          <a:bodyPr>
            <a:normAutofit fontScale="92500"/>
          </a:bodyPr>
          <a:lstStyle/>
          <a:p>
            <a:pPr marL="0" indent="0" algn="just">
              <a:buNone/>
            </a:pPr>
            <a:r>
              <a:rPr lang="en-US" b="1" dirty="0">
                <a:latin typeface="Times New Roman" pitchFamily="18" charset="0"/>
                <a:cs typeface="Times New Roman" pitchFamily="18" charset="0"/>
              </a:rPr>
              <a:t>Advantages</a:t>
            </a:r>
          </a:p>
          <a:p>
            <a:pPr algn="just"/>
            <a:r>
              <a:rPr lang="en-US" dirty="0">
                <a:latin typeface="Times New Roman" pitchFamily="18" charset="0"/>
                <a:cs typeface="Times New Roman" pitchFamily="18" charset="0"/>
              </a:rPr>
              <a:t>A useful technique in the absence of experts within the organization, as Delphi allows hiring experts from external sources with required domain knowledge for the project.</a:t>
            </a:r>
          </a:p>
          <a:p>
            <a:pPr algn="just"/>
            <a:r>
              <a:rPr lang="en-US" dirty="0">
                <a:latin typeface="Times New Roman" pitchFamily="18" charset="0"/>
                <a:cs typeface="Times New Roman" pitchFamily="18" charset="0"/>
              </a:rPr>
              <a:t>It is a quick technique to arrive at an estimate.</a:t>
            </a:r>
          </a:p>
          <a:p>
            <a:pPr algn="just"/>
            <a:r>
              <a:rPr lang="en-US" dirty="0">
                <a:latin typeface="Times New Roman" pitchFamily="18" charset="0"/>
                <a:cs typeface="Times New Roman" pitchFamily="18" charset="0"/>
              </a:rPr>
              <a:t>Delphi technique is popular for its simplicity</a:t>
            </a:r>
          </a:p>
          <a:p>
            <a:pPr marL="0" indent="0" algn="just">
              <a:buNone/>
            </a:pPr>
            <a:r>
              <a:rPr lang="en-US" b="1" dirty="0">
                <a:latin typeface="Times New Roman" pitchFamily="18" charset="0"/>
                <a:cs typeface="Times New Roman" pitchFamily="18" charset="0"/>
              </a:rPr>
              <a:t>Disadvantages </a:t>
            </a:r>
          </a:p>
          <a:p>
            <a:pPr algn="just"/>
            <a:r>
              <a:rPr lang="en-US" dirty="0">
                <a:latin typeface="Times New Roman" pitchFamily="18" charset="0"/>
                <a:cs typeface="Times New Roman" pitchFamily="18" charset="0"/>
              </a:rPr>
              <a:t>Sometimes it becomes difficult to find and analyze the right expert.</a:t>
            </a:r>
          </a:p>
          <a:p>
            <a:pPr algn="just"/>
            <a:r>
              <a:rPr lang="en-US" dirty="0">
                <a:latin typeface="Times New Roman" pitchFamily="18" charset="0"/>
                <a:cs typeface="Times New Roman" pitchFamily="18" charset="0"/>
              </a:rPr>
              <a:t>Difficulty in deciding the number of experts required.</a:t>
            </a:r>
          </a:p>
          <a:p>
            <a:pPr algn="just"/>
            <a:r>
              <a:rPr lang="en-US" dirty="0">
                <a:latin typeface="Times New Roman" pitchFamily="18" charset="0"/>
                <a:cs typeface="Times New Roman" pitchFamily="18" charset="0"/>
              </a:rPr>
              <a:t>The estimates derived, are not auditable.</a:t>
            </a:r>
          </a:p>
          <a:p>
            <a:pPr algn="just"/>
            <a:r>
              <a:rPr lang="en-US" dirty="0">
                <a:latin typeface="Times New Roman" pitchFamily="18" charset="0"/>
                <a:cs typeface="Times New Roman" pitchFamily="18" charset="0"/>
              </a:rPr>
              <a:t>This technique can only estimate the size and effort of the project but not the time.</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82730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Heuristic Estimation Technique </a:t>
            </a:r>
            <a:endParaRPr lang="en-IN" dirty="0"/>
          </a:p>
        </p:txBody>
      </p:sp>
      <p:sp>
        <p:nvSpPr>
          <p:cNvPr id="3" name="Content Placeholder 2"/>
          <p:cNvSpPr>
            <a:spLocks noGrp="1"/>
          </p:cNvSpPr>
          <p:nvPr>
            <p:ph sz="quarter" idx="1"/>
          </p:nvPr>
        </p:nvSpPr>
        <p:spPr>
          <a:xfrm>
            <a:off x="914400" y="1447800"/>
            <a:ext cx="7772400" cy="4789512"/>
          </a:xfrm>
        </p:spPr>
        <p:txBody>
          <a:bodyPr>
            <a:normAutofit/>
          </a:bodyPr>
          <a:lstStyle/>
          <a:p>
            <a:r>
              <a:rPr lang="en-US" dirty="0">
                <a:latin typeface="Times New Roman" pitchFamily="18" charset="0"/>
                <a:cs typeface="Times New Roman" pitchFamily="18" charset="0"/>
              </a:rPr>
              <a:t>Every Software project can be classified into three category:</a:t>
            </a:r>
          </a:p>
          <a:p>
            <a:pPr lvl="1"/>
            <a:r>
              <a:rPr lang="en-US" dirty="0">
                <a:latin typeface="Times New Roman" pitchFamily="18" charset="0"/>
                <a:cs typeface="Times New Roman" pitchFamily="18" charset="0"/>
              </a:rPr>
              <a:t>Organic</a:t>
            </a:r>
          </a:p>
          <a:p>
            <a:pPr lvl="1"/>
            <a:r>
              <a:rPr lang="en-US" dirty="0">
                <a:latin typeface="Times New Roman" pitchFamily="18" charset="0"/>
                <a:cs typeface="Times New Roman" pitchFamily="18" charset="0"/>
              </a:rPr>
              <a:t>Semidetached </a:t>
            </a:r>
          </a:p>
          <a:p>
            <a:pPr lvl="1"/>
            <a:r>
              <a:rPr lang="en-US" dirty="0">
                <a:latin typeface="Times New Roman" pitchFamily="18" charset="0"/>
                <a:cs typeface="Times New Roman" pitchFamily="18" charset="0"/>
              </a:rPr>
              <a:t>Embedded</a:t>
            </a:r>
          </a:p>
          <a:p>
            <a:r>
              <a:rPr lang="en-US" dirty="0">
                <a:latin typeface="Times New Roman" pitchFamily="18" charset="0"/>
                <a:cs typeface="Times New Roman" pitchFamily="18" charset="0"/>
              </a:rPr>
              <a:t>According to Boehm, software cost estimation should be done through: </a:t>
            </a:r>
          </a:p>
          <a:p>
            <a:pPr lvl="1"/>
            <a:r>
              <a:rPr lang="en-US" dirty="0">
                <a:latin typeface="Times New Roman" pitchFamily="18" charset="0"/>
                <a:cs typeface="Times New Roman" pitchFamily="18" charset="0"/>
              </a:rPr>
              <a:t>Basic COCOMO (Constructive Cost Estimation Model)</a:t>
            </a:r>
          </a:p>
          <a:p>
            <a:pPr lvl="1"/>
            <a:r>
              <a:rPr lang="en-US" dirty="0">
                <a:latin typeface="Times New Roman" pitchFamily="18" charset="0"/>
                <a:cs typeface="Times New Roman" pitchFamily="18" charset="0"/>
              </a:rPr>
              <a:t>Intermediate COCOMO</a:t>
            </a:r>
          </a:p>
          <a:p>
            <a:pPr lvl="1"/>
            <a:r>
              <a:rPr lang="en-US" dirty="0">
                <a:solidFill>
                  <a:srgbClr val="FF0000"/>
                </a:solidFill>
                <a:latin typeface="Times New Roman" pitchFamily="18" charset="0"/>
                <a:cs typeface="Times New Roman" pitchFamily="18" charset="0"/>
              </a:rPr>
              <a:t>Detailed/Complete COCOMO</a:t>
            </a:r>
          </a:p>
          <a:p>
            <a:pPr lvl="1"/>
            <a:r>
              <a:rPr lang="en-US" dirty="0">
                <a:solidFill>
                  <a:srgbClr val="FF0000"/>
                </a:solidFill>
                <a:latin typeface="Times New Roman" pitchFamily="18" charset="0"/>
                <a:cs typeface="Times New Roman" pitchFamily="18" charset="0"/>
              </a:rPr>
              <a:t>COCOMO-II</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899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Organic</a:t>
            </a:r>
            <a:endParaRPr lang="en-IN" dirty="0"/>
          </a:p>
        </p:txBody>
      </p:sp>
      <p:sp>
        <p:nvSpPr>
          <p:cNvPr id="3" name="Content Placeholder 2"/>
          <p:cNvSpPr>
            <a:spLocks noGrp="1"/>
          </p:cNvSpPr>
          <p:nvPr>
            <p:ph sz="quarter" idx="1"/>
          </p:nvPr>
        </p:nvSpPr>
        <p:spPr/>
        <p:txBody>
          <a:bodyPr>
            <a:normAutofit lnSpcReduction="10000"/>
          </a:bodyPr>
          <a:lstStyle/>
          <a:p>
            <a:pPr algn="just"/>
            <a:r>
              <a:rPr lang="en-US" dirty="0">
                <a:latin typeface="Times New Roman" pitchFamily="18" charset="0"/>
                <a:cs typeface="Times New Roman" pitchFamily="18" charset="0"/>
              </a:rPr>
              <a:t>A development project can be treated of the organic type, if the project is </a:t>
            </a:r>
          </a:p>
          <a:p>
            <a:pPr algn="just"/>
            <a:r>
              <a:rPr lang="en-US" dirty="0">
                <a:latin typeface="Times New Roman" pitchFamily="18" charset="0"/>
                <a:cs typeface="Times New Roman" pitchFamily="18" charset="0"/>
              </a:rPr>
              <a:t>A well-understood application program, </a:t>
            </a:r>
          </a:p>
          <a:p>
            <a:pPr algn="just"/>
            <a:r>
              <a:rPr lang="en-US" dirty="0">
                <a:latin typeface="Times New Roman" pitchFamily="18" charset="0"/>
                <a:cs typeface="Times New Roman" pitchFamily="18" charset="0"/>
              </a:rPr>
              <a:t>The size of the development team is reasonably small, and </a:t>
            </a:r>
          </a:p>
          <a:p>
            <a:pPr algn="just"/>
            <a:r>
              <a:rPr lang="en-US" dirty="0">
                <a:latin typeface="Times New Roman" pitchFamily="18" charset="0"/>
                <a:cs typeface="Times New Roman" pitchFamily="18" charset="0"/>
              </a:rPr>
              <a:t>The team members are experienced.</a:t>
            </a:r>
          </a:p>
          <a:p>
            <a:pPr algn="just"/>
            <a:r>
              <a:rPr lang="en-US" dirty="0">
                <a:latin typeface="Times New Roman" pitchFamily="18" charset="0"/>
                <a:cs typeface="Times New Roman" pitchFamily="18" charset="0"/>
              </a:rPr>
              <a:t>The size of the project in the range of </a:t>
            </a:r>
            <a:r>
              <a:rPr lang="en-US" b="1" dirty="0">
                <a:latin typeface="Times New Roman" pitchFamily="18" charset="0"/>
                <a:cs typeface="Times New Roman" pitchFamily="18" charset="0"/>
              </a:rPr>
              <a:t>2-50 KLOC</a:t>
            </a:r>
          </a:p>
          <a:p>
            <a:pPr marL="0" indent="0" algn="just">
              <a:buNone/>
            </a:pPr>
            <a:r>
              <a:rPr lang="en-US" b="1" dirty="0">
                <a:latin typeface="Times New Roman" pitchFamily="18" charset="0"/>
                <a:cs typeface="Times New Roman" pitchFamily="18" charset="0"/>
              </a:rPr>
              <a:t>Example: </a:t>
            </a:r>
          </a:p>
          <a:p>
            <a:pPr marL="0" indent="0" algn="just">
              <a:buNone/>
            </a:pPr>
            <a:r>
              <a:rPr lang="en-US" dirty="0">
                <a:latin typeface="Times New Roman" pitchFamily="18" charset="0"/>
                <a:cs typeface="Times New Roman" pitchFamily="18" charset="0"/>
              </a:rPr>
              <a:t>Inventory Management systems,</a:t>
            </a:r>
          </a:p>
          <a:p>
            <a:pPr marL="0" indent="0" algn="just">
              <a:buNone/>
            </a:pPr>
            <a:r>
              <a:rPr lang="en-US" dirty="0">
                <a:latin typeface="Times New Roman" pitchFamily="18" charset="0"/>
                <a:cs typeface="Times New Roman" pitchFamily="18" charset="0"/>
              </a:rPr>
              <a:t>Payroll System.</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028609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Semidetached</a:t>
            </a:r>
            <a:endParaRPr lang="en-IN" dirty="0"/>
          </a:p>
        </p:txBody>
      </p:sp>
      <p:sp>
        <p:nvSpPr>
          <p:cNvPr id="3" name="Content Placeholder 2"/>
          <p:cNvSpPr>
            <a:spLocks noGrp="1"/>
          </p:cNvSpPr>
          <p:nvPr>
            <p:ph sz="quarter" idx="1"/>
          </p:nvPr>
        </p:nvSpPr>
        <p:spPr/>
        <p:txBody>
          <a:bodyPr>
            <a:normAutofit/>
          </a:bodyPr>
          <a:lstStyle/>
          <a:p>
            <a:pPr algn="just"/>
            <a:r>
              <a:rPr lang="en-US" sz="2400" dirty="0">
                <a:latin typeface="Times New Roman" pitchFamily="18" charset="0"/>
                <a:cs typeface="Times New Roman" pitchFamily="18" charset="0"/>
              </a:rPr>
              <a:t>A development project can be treated with semidetached type if the development consists of a mixture of experienced and inexperienced staff. </a:t>
            </a:r>
          </a:p>
          <a:p>
            <a:pPr algn="just"/>
            <a:r>
              <a:rPr lang="en-US" sz="2400" dirty="0">
                <a:latin typeface="Times New Roman" pitchFamily="18" charset="0"/>
                <a:cs typeface="Times New Roman" pitchFamily="18" charset="0"/>
              </a:rPr>
              <a:t>Team members may have finite experience in related systems but may be unfamiliar with some aspects of the order being developed. </a:t>
            </a:r>
          </a:p>
          <a:p>
            <a:pPr algn="just"/>
            <a:r>
              <a:rPr lang="en-US" sz="2400" dirty="0">
                <a:latin typeface="Times New Roman" pitchFamily="18" charset="0"/>
                <a:cs typeface="Times New Roman" pitchFamily="18" charset="0"/>
              </a:rPr>
              <a:t>Example of Semidetached system includes developing a new operating system (OS), a Database Management System (DBMS), Linker, Loader, and complex inventory management system.</a:t>
            </a:r>
          </a:p>
          <a:p>
            <a:pPr algn="just"/>
            <a:r>
              <a:rPr lang="en-US" sz="2400" dirty="0">
                <a:latin typeface="Times New Roman" pitchFamily="18" charset="0"/>
                <a:cs typeface="Times New Roman" pitchFamily="18" charset="0"/>
              </a:rPr>
              <a:t>Size should be between </a:t>
            </a:r>
            <a:r>
              <a:rPr lang="en-IN" sz="2400" b="1" dirty="0">
                <a:latin typeface="Times New Roman" pitchFamily="18" charset="0"/>
                <a:cs typeface="Times New Roman" pitchFamily="18" charset="0"/>
              </a:rPr>
              <a:t>50-300 KLOC</a:t>
            </a:r>
          </a:p>
        </p:txBody>
      </p:sp>
    </p:spTree>
    <p:extLst>
      <p:ext uri="{BB962C8B-B14F-4D97-AF65-F5344CB8AC3E}">
        <p14:creationId xmlns:p14="http://schemas.microsoft.com/office/powerpoint/2010/main" val="3929942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Embedded</a:t>
            </a:r>
            <a:endParaRPr lang="en-IN" dirty="0"/>
          </a:p>
        </p:txBody>
      </p:sp>
      <p:sp>
        <p:nvSpPr>
          <p:cNvPr id="3" name="Content Placeholder 2"/>
          <p:cNvSpPr>
            <a:spLocks noGrp="1"/>
          </p:cNvSpPr>
          <p:nvPr>
            <p:ph sz="quarter" idx="1"/>
          </p:nvPr>
        </p:nvSpPr>
        <p:spPr/>
        <p:txBody>
          <a:bodyPr>
            <a:normAutofit/>
          </a:bodyPr>
          <a:lstStyle/>
          <a:p>
            <a:pPr algn="just"/>
            <a:r>
              <a:rPr lang="en-US" sz="2300" dirty="0">
                <a:latin typeface="Times New Roman" pitchFamily="18" charset="0"/>
                <a:cs typeface="Times New Roman" pitchFamily="18" charset="0"/>
              </a:rPr>
              <a:t>A development project is treated to be of an embedded type, if the software being developed is strongly coupled to complex hardware, or if the stringent regulations on the operational method exist. </a:t>
            </a:r>
          </a:p>
          <a:p>
            <a:pPr algn="just"/>
            <a:r>
              <a:rPr lang="en-US" sz="2300" dirty="0">
                <a:latin typeface="Times New Roman" pitchFamily="18" charset="0"/>
                <a:cs typeface="Times New Roman" pitchFamily="18" charset="0"/>
              </a:rPr>
              <a:t>Size must be greater than </a:t>
            </a:r>
            <a:r>
              <a:rPr lang="en-US" sz="2300" b="1" dirty="0">
                <a:latin typeface="Times New Roman" pitchFamily="18" charset="0"/>
                <a:cs typeface="Times New Roman" pitchFamily="18" charset="0"/>
              </a:rPr>
              <a:t>300 KLOC.</a:t>
            </a:r>
          </a:p>
          <a:p>
            <a:pPr algn="just"/>
            <a:r>
              <a:rPr lang="en-US" sz="2300" b="1" dirty="0">
                <a:latin typeface="Times New Roman" pitchFamily="18" charset="0"/>
                <a:cs typeface="Times New Roman" pitchFamily="18" charset="0"/>
              </a:rPr>
              <a:t>For Example:</a:t>
            </a:r>
            <a:r>
              <a:rPr lang="en-US" sz="2300" dirty="0">
                <a:latin typeface="Times New Roman" pitchFamily="18" charset="0"/>
                <a:cs typeface="Times New Roman" pitchFamily="18" charset="0"/>
              </a:rPr>
              <a:t> ATM, Air Traffic control.</a:t>
            </a:r>
            <a:endParaRPr lang="en-IN" sz="2300" dirty="0">
              <a:latin typeface="Times New Roman" pitchFamily="18" charset="0"/>
              <a:cs typeface="Times New Roman" pitchFamily="18" charset="0"/>
            </a:endParaRPr>
          </a:p>
        </p:txBody>
      </p:sp>
    </p:spTree>
    <p:extLst>
      <p:ext uri="{BB962C8B-B14F-4D97-AF65-F5344CB8AC3E}">
        <p14:creationId xmlns:p14="http://schemas.microsoft.com/office/powerpoint/2010/main" val="626694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COCOMO Model</a:t>
            </a:r>
            <a:endParaRPr lang="en-IN" dirty="0"/>
          </a:p>
        </p:txBody>
      </p:sp>
      <p:sp>
        <p:nvSpPr>
          <p:cNvPr id="3" name="Content Placeholder 2"/>
          <p:cNvSpPr>
            <a:spLocks noGrp="1"/>
          </p:cNvSpPr>
          <p:nvPr>
            <p:ph sz="quarter" idx="1"/>
          </p:nvPr>
        </p:nvSpPr>
        <p:spPr/>
        <p:txBody>
          <a:bodyPr>
            <a:normAutofit fontScale="85000" lnSpcReduction="10000"/>
          </a:bodyPr>
          <a:lstStyle/>
          <a:p>
            <a:pPr algn="just"/>
            <a:r>
              <a:rPr lang="en-US" dirty="0">
                <a:latin typeface="Times New Roman" pitchFamily="18" charset="0"/>
                <a:cs typeface="Times New Roman" pitchFamily="18" charset="0"/>
              </a:rPr>
              <a:t>The basic COCOMO model provide an accurate size of the project parameters. The following expressions give the basic COCOMO estimation model:</a:t>
            </a:r>
          </a:p>
          <a:p>
            <a:pPr marL="0" indent="0" algn="just">
              <a:buNone/>
            </a:pPr>
            <a:r>
              <a:rPr lang="en-US" dirty="0">
                <a:latin typeface="Times New Roman" pitchFamily="18" charset="0"/>
                <a:cs typeface="Times New Roman" pitchFamily="18" charset="0"/>
              </a:rPr>
              <a:t>                Effort=a</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*(KLOC)</a:t>
            </a:r>
            <a:r>
              <a:rPr lang="en-US" baseline="30000" dirty="0">
                <a:latin typeface="Times New Roman" pitchFamily="18" charset="0"/>
                <a:cs typeface="Times New Roman" pitchFamily="18" charset="0"/>
              </a:rPr>
              <a:t>a2</a:t>
            </a:r>
            <a:r>
              <a:rPr lang="en-US" dirty="0">
                <a:latin typeface="Times New Roman" pitchFamily="18" charset="0"/>
                <a:cs typeface="Times New Roman" pitchFamily="18" charset="0"/>
              </a:rPr>
              <a:t> PM</a:t>
            </a:r>
          </a:p>
          <a:p>
            <a:pPr marL="0" indent="0" algn="just">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t>
            </a:r>
            <a:r>
              <a:rPr lang="en-US" baseline="-25000" dirty="0" err="1">
                <a:latin typeface="Times New Roman" pitchFamily="18" charset="0"/>
                <a:cs typeface="Times New Roman" pitchFamily="18" charset="0"/>
              </a:rPr>
              <a:t>dev</a:t>
            </a:r>
            <a:r>
              <a:rPr lang="en-US" dirty="0">
                <a:latin typeface="Times New Roman" pitchFamily="18" charset="0"/>
                <a:cs typeface="Times New Roman" pitchFamily="18" charset="0"/>
              </a:rPr>
              <a:t>=b</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*(efforts)</a:t>
            </a:r>
            <a:r>
              <a:rPr lang="en-US" baseline="30000" dirty="0">
                <a:latin typeface="Times New Roman" pitchFamily="18" charset="0"/>
                <a:cs typeface="Times New Roman" pitchFamily="18" charset="0"/>
              </a:rPr>
              <a:t>b2</a:t>
            </a:r>
            <a:r>
              <a:rPr lang="en-US" dirty="0">
                <a:latin typeface="Times New Roman" pitchFamily="18" charset="0"/>
                <a:cs typeface="Times New Roman" pitchFamily="18" charset="0"/>
              </a:rPr>
              <a:t> Months</a:t>
            </a:r>
          </a:p>
          <a:p>
            <a:pPr marL="0" indent="0" algn="just">
              <a:buNone/>
            </a:pPr>
            <a:r>
              <a:rPr lang="en-US" dirty="0">
                <a:latin typeface="Times New Roman" pitchFamily="18" charset="0"/>
                <a:cs typeface="Times New Roman" pitchFamily="18" charset="0"/>
              </a:rPr>
              <a:t>Where</a:t>
            </a:r>
          </a:p>
          <a:p>
            <a:pPr algn="just"/>
            <a:r>
              <a:rPr lang="en-US" b="1" dirty="0">
                <a:latin typeface="Times New Roman" pitchFamily="18" charset="0"/>
                <a:cs typeface="Times New Roman" pitchFamily="18" charset="0"/>
              </a:rPr>
              <a:t>KLOC</a:t>
            </a:r>
            <a:r>
              <a:rPr lang="en-US" dirty="0">
                <a:latin typeface="Times New Roman" pitchFamily="18" charset="0"/>
                <a:cs typeface="Times New Roman" pitchFamily="18" charset="0"/>
              </a:rPr>
              <a:t> is the estimated size of the software product indicate in Kilo Lines of Code, </a:t>
            </a:r>
          </a:p>
          <a:p>
            <a:pPr algn="just"/>
            <a:r>
              <a:rPr lang="en-US" dirty="0">
                <a:latin typeface="Times New Roman" pitchFamily="18" charset="0"/>
                <a:cs typeface="Times New Roman" pitchFamily="18" charset="0"/>
              </a:rPr>
              <a:t>a</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,b</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,b</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are constants for each group of software products, </a:t>
            </a:r>
          </a:p>
          <a:p>
            <a:pPr algn="just"/>
            <a:r>
              <a:rPr lang="en-US" b="1" dirty="0" err="1">
                <a:latin typeface="Times New Roman" pitchFamily="18" charset="0"/>
                <a:cs typeface="Times New Roman" pitchFamily="18" charset="0"/>
              </a:rPr>
              <a:t>T</a:t>
            </a:r>
            <a:r>
              <a:rPr lang="en-US" b="1" baseline="-25000" dirty="0" err="1">
                <a:latin typeface="Times New Roman" pitchFamily="18" charset="0"/>
                <a:cs typeface="Times New Roman" pitchFamily="18" charset="0"/>
              </a:rPr>
              <a:t>dev</a:t>
            </a:r>
            <a:r>
              <a:rPr lang="en-US" dirty="0">
                <a:latin typeface="Times New Roman" pitchFamily="18" charset="0"/>
                <a:cs typeface="Times New Roman" pitchFamily="18" charset="0"/>
              </a:rPr>
              <a:t> is the estimated time to develop the software, expressed in months,</a:t>
            </a:r>
          </a:p>
          <a:p>
            <a:pPr algn="just"/>
            <a:r>
              <a:rPr lang="en-US" b="1" dirty="0">
                <a:latin typeface="Times New Roman" pitchFamily="18" charset="0"/>
                <a:cs typeface="Times New Roman" pitchFamily="18" charset="0"/>
              </a:rPr>
              <a:t>Effort</a:t>
            </a:r>
            <a:r>
              <a:rPr lang="en-US" dirty="0">
                <a:latin typeface="Times New Roman" pitchFamily="18" charset="0"/>
                <a:cs typeface="Times New Roman" pitchFamily="18" charset="0"/>
              </a:rPr>
              <a:t> is the total effort required to develop the software product, expressed in </a:t>
            </a:r>
            <a:r>
              <a:rPr lang="en-US" b="1" dirty="0">
                <a:latin typeface="Times New Roman" pitchFamily="18" charset="0"/>
                <a:cs typeface="Times New Roman" pitchFamily="18" charset="0"/>
              </a:rPr>
              <a:t>person months (PMs)</a:t>
            </a:r>
            <a:r>
              <a:rPr lang="en-US" dirty="0">
                <a:latin typeface="Times New Roman" pitchFamily="18" charset="0"/>
                <a:cs typeface="Times New Roman" pitchFamily="18" charset="0"/>
              </a:rPr>
              <a:t>.</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72737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954653676"/>
              </p:ext>
            </p:extLst>
          </p:nvPr>
        </p:nvGraphicFramePr>
        <p:xfrm>
          <a:off x="1043608" y="2564904"/>
          <a:ext cx="7772400" cy="1828800"/>
        </p:xfrm>
        <a:graphic>
          <a:graphicData uri="http://schemas.openxmlformats.org/drawingml/2006/table">
            <a:tbl>
              <a:tblPr firstRow="1" bandRow="1">
                <a:tableStyleId>{5940675A-B579-460E-94D1-54222C63F5DA}</a:tableStyleId>
              </a:tblPr>
              <a:tblGrid>
                <a:gridCol w="2649488">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162472">
                  <a:extLst>
                    <a:ext uri="{9D8B030D-6E8A-4147-A177-3AD203B41FA5}">
                      <a16:colId xmlns:a16="http://schemas.microsoft.com/office/drawing/2014/main" val="20004"/>
                    </a:ext>
                  </a:extLst>
                </a:gridCol>
              </a:tblGrid>
              <a:tr h="370840">
                <a:tc>
                  <a:txBody>
                    <a:bodyPr/>
                    <a:lstStyle/>
                    <a:p>
                      <a:r>
                        <a:rPr lang="en-US" sz="2400" dirty="0">
                          <a:latin typeface="Times New Roman" pitchFamily="18" charset="0"/>
                          <a:cs typeface="Times New Roman" pitchFamily="18" charset="0"/>
                        </a:rPr>
                        <a:t>Software</a:t>
                      </a:r>
                      <a:r>
                        <a:rPr lang="en-US" sz="2400" baseline="0" dirty="0">
                          <a:latin typeface="Times New Roman" pitchFamily="18" charset="0"/>
                          <a:cs typeface="Times New Roman" pitchFamily="18" charset="0"/>
                        </a:rPr>
                        <a:t> Project</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a</a:t>
                      </a:r>
                      <a:r>
                        <a:rPr lang="en-US" sz="2400" baseline="-25000" dirty="0">
                          <a:latin typeface="Times New Roman" pitchFamily="18" charset="0"/>
                          <a:cs typeface="Times New Roman" pitchFamily="18" charset="0"/>
                        </a:rPr>
                        <a:t>1</a:t>
                      </a:r>
                      <a:endParaRPr lang="en-IN" sz="2400" baseline="-250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a</a:t>
                      </a:r>
                      <a:r>
                        <a:rPr lang="en-US" sz="2400" baseline="-25000" dirty="0">
                          <a:latin typeface="Times New Roman" pitchFamily="18" charset="0"/>
                          <a:cs typeface="Times New Roman" pitchFamily="18" charset="0"/>
                        </a:rPr>
                        <a:t>2</a:t>
                      </a:r>
                      <a:endParaRPr lang="en-IN" sz="2400" baseline="-250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b</a:t>
                      </a:r>
                      <a:r>
                        <a:rPr lang="en-US" sz="2400" baseline="-25000" dirty="0">
                          <a:latin typeface="Times New Roman" pitchFamily="18" charset="0"/>
                          <a:cs typeface="Times New Roman" pitchFamily="18" charset="0"/>
                        </a:rPr>
                        <a:t>1</a:t>
                      </a:r>
                      <a:endParaRPr lang="en-IN" sz="2400" baseline="-250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b</a:t>
                      </a:r>
                      <a:r>
                        <a:rPr lang="en-US" sz="2400" baseline="-25000" dirty="0">
                          <a:latin typeface="Times New Roman" pitchFamily="18" charset="0"/>
                          <a:cs typeface="Times New Roman" pitchFamily="18" charset="0"/>
                        </a:rPr>
                        <a:t>2</a:t>
                      </a:r>
                      <a:endParaRPr lang="en-IN" sz="2400" baseline="-250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r>
                        <a:rPr lang="en-US" sz="2400" dirty="0">
                          <a:latin typeface="Times New Roman" pitchFamily="18" charset="0"/>
                          <a:cs typeface="Times New Roman" pitchFamily="18" charset="0"/>
                        </a:rPr>
                        <a:t>Organic</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2.4</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1.05</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2.5</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0.38</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sz="2400" dirty="0">
                          <a:latin typeface="Times New Roman" pitchFamily="18" charset="0"/>
                          <a:cs typeface="Times New Roman" pitchFamily="18" charset="0"/>
                        </a:rPr>
                        <a:t>Semi-Detached</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3.0</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1.12</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2.5</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0.35</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US" sz="2400" dirty="0">
                          <a:latin typeface="Times New Roman" pitchFamily="18" charset="0"/>
                          <a:cs typeface="Times New Roman" pitchFamily="18" charset="0"/>
                        </a:rPr>
                        <a:t>Embedded</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3.6</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1.20</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2.5</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0.32</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1115616" y="1700808"/>
            <a:ext cx="7560840" cy="769441"/>
          </a:xfrm>
          <a:prstGeom prst="rect">
            <a:avLst/>
          </a:prstGeom>
          <a:noFill/>
        </p:spPr>
        <p:txBody>
          <a:bodyPr wrap="square" rtlCol="0">
            <a:spAutoFit/>
          </a:bodyPr>
          <a:lstStyle/>
          <a:p>
            <a:pPr algn="just"/>
            <a:r>
              <a:rPr lang="en-US" sz="2200" dirty="0">
                <a:latin typeface="Times New Roman" pitchFamily="18" charset="0"/>
                <a:cs typeface="Times New Roman" pitchFamily="18" charset="0"/>
              </a:rPr>
              <a:t>The constant values of a and b for the Basic Model for the different categories of system: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307114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76672"/>
            <a:ext cx="7772400" cy="5543128"/>
          </a:xfrm>
        </p:spPr>
        <p:txBody>
          <a:bodyPr/>
          <a:lstStyle/>
          <a:p>
            <a:pPr marL="0" indent="0">
              <a:buNone/>
            </a:pPr>
            <a:r>
              <a:rPr lang="en-US" b="1" dirty="0"/>
              <a:t>Example1:</a:t>
            </a:r>
            <a:r>
              <a:rPr lang="en-US" dirty="0"/>
              <a:t> Suppose a project was estimated to be 400 KLOC. Calculate the effort (E) and development time (D) for each of the three model i.e., organic, semi-detached &amp; embedded.</a:t>
            </a:r>
          </a:p>
          <a:p>
            <a:pPr marL="0" indent="0">
              <a:buNone/>
            </a:pPr>
            <a:r>
              <a:rPr lang="en-IN" b="1" dirty="0"/>
              <a:t>(i)Organic Mode</a:t>
            </a:r>
            <a:endParaRPr lang="en-IN" dirty="0"/>
          </a:p>
          <a:p>
            <a:pPr marL="0" indent="0">
              <a:buNone/>
            </a:pPr>
            <a:r>
              <a:rPr lang="en-IN" dirty="0"/>
              <a:t>                E = 2.4 * (400)</a:t>
            </a:r>
            <a:r>
              <a:rPr lang="en-IN" baseline="30000" dirty="0"/>
              <a:t>1.05</a:t>
            </a:r>
            <a:r>
              <a:rPr lang="en-IN" dirty="0"/>
              <a:t> = 1295.31 PM</a:t>
            </a:r>
            <a:br>
              <a:rPr lang="en-IN" dirty="0"/>
            </a:br>
            <a:r>
              <a:rPr lang="en-IN" dirty="0"/>
              <a:t>                D = 2.5 * (1295.31)</a:t>
            </a:r>
            <a:r>
              <a:rPr lang="en-IN" baseline="30000" dirty="0"/>
              <a:t>0.38</a:t>
            </a:r>
            <a:r>
              <a:rPr lang="en-IN" dirty="0"/>
              <a:t>=38.07 PM</a:t>
            </a:r>
          </a:p>
          <a:p>
            <a:pPr marL="0" indent="0">
              <a:buNone/>
            </a:pPr>
            <a:r>
              <a:rPr lang="en-IN" b="1" dirty="0"/>
              <a:t>(ii)Semidetached Mode</a:t>
            </a:r>
            <a:endParaRPr lang="en-IN" dirty="0"/>
          </a:p>
          <a:p>
            <a:pPr marL="0" indent="0">
              <a:buNone/>
            </a:pPr>
            <a:r>
              <a:rPr lang="en-IN" dirty="0"/>
              <a:t>                E = 3.0 * (400)</a:t>
            </a:r>
            <a:r>
              <a:rPr lang="en-IN" baseline="30000" dirty="0"/>
              <a:t>1.12</a:t>
            </a:r>
            <a:r>
              <a:rPr lang="en-IN" dirty="0"/>
              <a:t>=2462.79 PM</a:t>
            </a:r>
            <a:br>
              <a:rPr lang="en-IN" dirty="0"/>
            </a:br>
            <a:r>
              <a:rPr lang="en-IN" dirty="0"/>
              <a:t>                D = 2.5 * (2462.79)</a:t>
            </a:r>
            <a:r>
              <a:rPr lang="en-IN" baseline="30000" dirty="0"/>
              <a:t>0.35</a:t>
            </a:r>
            <a:r>
              <a:rPr lang="en-IN" dirty="0"/>
              <a:t>=38.45 PM</a:t>
            </a:r>
          </a:p>
          <a:p>
            <a:pPr marL="0" indent="0">
              <a:buNone/>
            </a:pPr>
            <a:r>
              <a:rPr lang="en-IN" b="1" dirty="0"/>
              <a:t>(iii) Embedded Mode</a:t>
            </a:r>
            <a:endParaRPr lang="en-IN" dirty="0"/>
          </a:p>
          <a:p>
            <a:pPr marL="0" indent="0">
              <a:buNone/>
            </a:pPr>
            <a:r>
              <a:rPr lang="en-IN" dirty="0"/>
              <a:t>                E = 3.6 * (400)</a:t>
            </a:r>
            <a:r>
              <a:rPr lang="en-IN" baseline="30000" dirty="0"/>
              <a:t>1.20</a:t>
            </a:r>
            <a:r>
              <a:rPr lang="en-IN" dirty="0"/>
              <a:t> = 4772.81 PM</a:t>
            </a:r>
            <a:br>
              <a:rPr lang="en-IN" dirty="0"/>
            </a:br>
            <a:r>
              <a:rPr lang="en-IN" dirty="0"/>
              <a:t>                D = 2.5 * (4772.8)</a:t>
            </a:r>
            <a:r>
              <a:rPr lang="en-IN" baseline="30000" dirty="0"/>
              <a:t>0.32</a:t>
            </a:r>
            <a:r>
              <a:rPr lang="en-IN" dirty="0"/>
              <a:t> = 38 PM</a:t>
            </a:r>
          </a:p>
          <a:p>
            <a:pPr marL="0" indent="0">
              <a:buNone/>
            </a:pPr>
            <a:endParaRPr lang="en-IN" dirty="0"/>
          </a:p>
        </p:txBody>
      </p:sp>
    </p:spTree>
    <p:extLst>
      <p:ext uri="{BB962C8B-B14F-4D97-AF65-F5344CB8AC3E}">
        <p14:creationId xmlns:p14="http://schemas.microsoft.com/office/powerpoint/2010/main" val="4002185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332656"/>
            <a:ext cx="7772400" cy="5687144"/>
          </a:xfrm>
        </p:spPr>
        <p:txBody>
          <a:bodyPr/>
          <a:lstStyle/>
          <a:p>
            <a:pPr algn="just"/>
            <a:r>
              <a:rPr lang="en-US" b="1" dirty="0">
                <a:latin typeface="Times New Roman" pitchFamily="18" charset="0"/>
                <a:cs typeface="Times New Roman" pitchFamily="18" charset="0"/>
              </a:rPr>
              <a:t>Example2:</a:t>
            </a:r>
            <a:r>
              <a:rPr lang="en-US" dirty="0">
                <a:latin typeface="Times New Roman" pitchFamily="18" charset="0"/>
                <a:cs typeface="Times New Roman" pitchFamily="18" charset="0"/>
              </a:rPr>
              <a:t> A project size of 200 KLOC is to be developed. Software development team has average experience on similar type of projects. The project schedule is not very tight. Calculate the Effort, development time, average staff size, and productivity of the project.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Average Staff Size = E/D Person</a:t>
            </a:r>
          </a:p>
          <a:p>
            <a:pPr algn="just"/>
            <a:r>
              <a:rPr lang="en-US" dirty="0">
                <a:latin typeface="Times New Roman" pitchFamily="18" charset="0"/>
                <a:cs typeface="Times New Roman" pitchFamily="18" charset="0"/>
              </a:rPr>
              <a:t>Productivity = KLOC/E </a:t>
            </a:r>
          </a:p>
          <a:p>
            <a:pPr marL="0" indent="0" algn="just">
              <a:buNone/>
            </a:pPr>
            <a:r>
              <a:rPr lang="en-US" dirty="0">
                <a:latin typeface="Times New Roman" pitchFamily="18" charset="0"/>
                <a:cs typeface="Times New Roman" pitchFamily="18" charset="0"/>
              </a:rPr>
              <a:t>Productivity is measured in KLOC/PM.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051470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88640"/>
            <a:ext cx="7772400" cy="1143000"/>
          </a:xfrm>
        </p:spPr>
        <p:txBody>
          <a:bodyPr/>
          <a:lstStyle/>
          <a:p>
            <a:r>
              <a:rPr lang="en-US" dirty="0"/>
              <a:t>Intermediate COCOMO</a:t>
            </a:r>
            <a:endParaRPr lang="en-IN" dirty="0"/>
          </a:p>
        </p:txBody>
      </p:sp>
      <p:sp>
        <p:nvSpPr>
          <p:cNvPr id="3" name="Content Placeholder 2"/>
          <p:cNvSpPr>
            <a:spLocks noGrp="1"/>
          </p:cNvSpPr>
          <p:nvPr>
            <p:ph sz="quarter" idx="1"/>
          </p:nvPr>
        </p:nvSpPr>
        <p:spPr/>
        <p:txBody>
          <a:bodyPr/>
          <a:lstStyle/>
          <a:p>
            <a:pPr algn="just"/>
            <a:r>
              <a:rPr lang="en-US" dirty="0">
                <a:latin typeface="Times New Roman" pitchFamily="18" charset="0"/>
                <a:cs typeface="Times New Roman" pitchFamily="18" charset="0"/>
              </a:rPr>
              <a:t>The basic COCOMO model considers that the effort is only a function of the number of lines of code and some constants calculated according to the various software systems. </a:t>
            </a:r>
          </a:p>
          <a:p>
            <a:pPr algn="just"/>
            <a:r>
              <a:rPr lang="en-US" dirty="0">
                <a:latin typeface="Times New Roman" pitchFamily="18" charset="0"/>
                <a:cs typeface="Times New Roman" pitchFamily="18" charset="0"/>
              </a:rPr>
              <a:t>The intermediate COCOMO model recognizes these facts and refines the initial estimates obtained through the basic COCOMO model by using a set of </a:t>
            </a:r>
            <a:r>
              <a:rPr lang="en-US" b="1" dirty="0">
                <a:latin typeface="Times New Roman" pitchFamily="18" charset="0"/>
                <a:cs typeface="Times New Roman" pitchFamily="18" charset="0"/>
              </a:rPr>
              <a:t>15 cost drivers</a:t>
            </a:r>
            <a:r>
              <a:rPr lang="en-US" dirty="0">
                <a:latin typeface="Times New Roman" pitchFamily="18" charset="0"/>
                <a:cs typeface="Times New Roman" pitchFamily="18" charset="0"/>
              </a:rPr>
              <a:t> based on various attributes of software engineering.</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171583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Classification of Cost Drivers and their attributes</a:t>
            </a:r>
            <a:endParaRPr lang="en-IN" dirty="0"/>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Cost drivers are classified into four category :</a:t>
            </a:r>
          </a:p>
          <a:p>
            <a:pPr lvl="1"/>
            <a:r>
              <a:rPr lang="fr-FR" dirty="0">
                <a:latin typeface="Times New Roman" pitchFamily="18" charset="0"/>
                <a:cs typeface="Times New Roman" pitchFamily="18" charset="0"/>
              </a:rPr>
              <a:t>I. Product </a:t>
            </a:r>
            <a:r>
              <a:rPr lang="fr-FR" dirty="0" err="1">
                <a:latin typeface="Times New Roman" pitchFamily="18" charset="0"/>
                <a:cs typeface="Times New Roman" pitchFamily="18" charset="0"/>
              </a:rPr>
              <a:t>Attributes</a:t>
            </a:r>
            <a:r>
              <a:rPr lang="fr-FR" dirty="0">
                <a:latin typeface="Times New Roman" pitchFamily="18" charset="0"/>
                <a:cs typeface="Times New Roman" pitchFamily="18" charset="0"/>
              </a:rPr>
              <a:t></a:t>
            </a:r>
          </a:p>
          <a:p>
            <a:pPr lvl="1"/>
            <a:r>
              <a:rPr lang="fr-FR" dirty="0">
                <a:latin typeface="Times New Roman" pitchFamily="18" charset="0"/>
                <a:cs typeface="Times New Roman" pitchFamily="18" charset="0"/>
              </a:rPr>
              <a:t>II. Computer </a:t>
            </a:r>
            <a:r>
              <a:rPr lang="fr-FR" dirty="0" err="1">
                <a:latin typeface="Times New Roman" pitchFamily="18" charset="0"/>
                <a:cs typeface="Times New Roman" pitchFamily="18" charset="0"/>
              </a:rPr>
              <a:t>Attributes</a:t>
            </a:r>
            <a:endParaRPr lang="fr-FR" dirty="0">
              <a:latin typeface="Times New Roman" pitchFamily="18" charset="0"/>
              <a:cs typeface="Times New Roman" pitchFamily="18" charset="0"/>
            </a:endParaRPr>
          </a:p>
          <a:p>
            <a:pPr lvl="1"/>
            <a:r>
              <a:rPr lang="fr-FR" dirty="0">
                <a:latin typeface="Times New Roman" pitchFamily="18" charset="0"/>
                <a:cs typeface="Times New Roman" pitchFamily="18" charset="0"/>
              </a:rPr>
              <a:t>III. Personnel </a:t>
            </a:r>
            <a:r>
              <a:rPr lang="fr-FR" dirty="0" err="1">
                <a:latin typeface="Times New Roman" pitchFamily="18" charset="0"/>
                <a:cs typeface="Times New Roman" pitchFamily="18" charset="0"/>
              </a:rPr>
              <a:t>Attributes</a:t>
            </a:r>
            <a:endParaRPr lang="fr-FR" dirty="0">
              <a:latin typeface="Times New Roman" pitchFamily="18" charset="0"/>
              <a:cs typeface="Times New Roman" pitchFamily="18" charset="0"/>
            </a:endParaRPr>
          </a:p>
          <a:p>
            <a:pPr lvl="1"/>
            <a:r>
              <a:rPr lang="fr-FR" dirty="0">
                <a:latin typeface="Times New Roman" pitchFamily="18" charset="0"/>
                <a:cs typeface="Times New Roman" pitchFamily="18" charset="0"/>
              </a:rPr>
              <a:t>IV. Project </a:t>
            </a:r>
            <a:r>
              <a:rPr lang="fr-FR" dirty="0" err="1">
                <a:latin typeface="Times New Roman" pitchFamily="18" charset="0"/>
                <a:cs typeface="Times New Roman" pitchFamily="18" charset="0"/>
              </a:rPr>
              <a:t>Attributes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944417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marL="0" indent="0">
              <a:buNone/>
            </a:pPr>
            <a:r>
              <a:rPr lang="en-US" dirty="0">
                <a:latin typeface="Times New Roman" pitchFamily="18" charset="0"/>
                <a:cs typeface="Times New Roman" pitchFamily="18" charset="0"/>
              </a:rPr>
              <a:t>I. Product Attributes</a:t>
            </a:r>
          </a:p>
          <a:p>
            <a:r>
              <a:rPr lang="en-US" b="1" dirty="0">
                <a:latin typeface="Times New Roman" pitchFamily="18" charset="0"/>
                <a:cs typeface="Times New Roman" pitchFamily="18" charset="0"/>
              </a:rPr>
              <a:t>RELY</a:t>
            </a:r>
            <a:r>
              <a:rPr lang="en-US" dirty="0">
                <a:latin typeface="Times New Roman" pitchFamily="18" charset="0"/>
                <a:cs typeface="Times New Roman" pitchFamily="18" charset="0"/>
              </a:rPr>
              <a:t> Required Software Reliability</a:t>
            </a:r>
          </a:p>
          <a:p>
            <a:r>
              <a:rPr lang="en-US" b="1" dirty="0">
                <a:latin typeface="Times New Roman" pitchFamily="18" charset="0"/>
                <a:cs typeface="Times New Roman" pitchFamily="18" charset="0"/>
              </a:rPr>
              <a:t>DATA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Data</a:t>
            </a:r>
            <a:r>
              <a:rPr lang="en-US" dirty="0">
                <a:latin typeface="Times New Roman" pitchFamily="18" charset="0"/>
                <a:cs typeface="Times New Roman" pitchFamily="18" charset="0"/>
              </a:rPr>
              <a:t> Base Size</a:t>
            </a:r>
          </a:p>
          <a:p>
            <a:r>
              <a:rPr lang="en-US" b="1" dirty="0">
                <a:latin typeface="Times New Roman" pitchFamily="18" charset="0"/>
                <a:cs typeface="Times New Roman" pitchFamily="18" charset="0"/>
              </a:rPr>
              <a:t>CPLX</a:t>
            </a:r>
            <a:r>
              <a:rPr lang="en-US" dirty="0">
                <a:latin typeface="Times New Roman" pitchFamily="18" charset="0"/>
                <a:cs typeface="Times New Roman" pitchFamily="18" charset="0"/>
              </a:rPr>
              <a:t> Product Complexity</a:t>
            </a:r>
          </a:p>
          <a:p>
            <a:pPr marL="0" indent="0">
              <a:buNone/>
            </a:pPr>
            <a:r>
              <a:rPr lang="en-US" dirty="0">
                <a:latin typeface="Times New Roman" pitchFamily="18" charset="0"/>
                <a:cs typeface="Times New Roman" pitchFamily="18" charset="0"/>
              </a:rPr>
              <a:t>II. Computer Attributes</a:t>
            </a:r>
          </a:p>
          <a:p>
            <a:r>
              <a:rPr lang="en-US" b="1" dirty="0">
                <a:latin typeface="Times New Roman" pitchFamily="18" charset="0"/>
                <a:cs typeface="Times New Roman" pitchFamily="18" charset="0"/>
              </a:rPr>
              <a:t>TIME</a:t>
            </a:r>
            <a:r>
              <a:rPr lang="en-US" dirty="0">
                <a:latin typeface="Times New Roman" pitchFamily="18" charset="0"/>
                <a:cs typeface="Times New Roman" pitchFamily="18" charset="0"/>
              </a:rPr>
              <a:t> Execution Time Constraint</a:t>
            </a:r>
          </a:p>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STOR</a:t>
            </a:r>
            <a:r>
              <a:rPr lang="en-US" dirty="0">
                <a:latin typeface="Times New Roman" pitchFamily="18" charset="0"/>
                <a:cs typeface="Times New Roman" pitchFamily="18" charset="0"/>
              </a:rPr>
              <a:t> Main Storage Constraint</a:t>
            </a:r>
          </a:p>
          <a:p>
            <a:r>
              <a:rPr lang="en-US" b="1" dirty="0">
                <a:latin typeface="Times New Roman" pitchFamily="18" charset="0"/>
                <a:cs typeface="Times New Roman" pitchFamily="18" charset="0"/>
              </a:rPr>
              <a:t>VIRT</a:t>
            </a:r>
            <a:r>
              <a:rPr lang="en-US" dirty="0">
                <a:latin typeface="Times New Roman" pitchFamily="18" charset="0"/>
                <a:cs typeface="Times New Roman" pitchFamily="18" charset="0"/>
              </a:rPr>
              <a:t> Virtual Machine Volatility1</a:t>
            </a:r>
          </a:p>
          <a:p>
            <a:r>
              <a:rPr lang="en-US" b="1" dirty="0">
                <a:latin typeface="Times New Roman" pitchFamily="18" charset="0"/>
                <a:cs typeface="Times New Roman" pitchFamily="18" charset="0"/>
              </a:rPr>
              <a:t>TURN</a:t>
            </a:r>
            <a:r>
              <a:rPr lang="en-US" dirty="0">
                <a:latin typeface="Times New Roman" pitchFamily="18" charset="0"/>
                <a:cs typeface="Times New Roman" pitchFamily="18" charset="0"/>
              </a:rPr>
              <a:t> Computer Turnaround Time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31845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marL="0" indent="0">
              <a:buNone/>
            </a:pPr>
            <a:r>
              <a:rPr lang="en-IN" dirty="0">
                <a:latin typeface="Times New Roman" pitchFamily="18" charset="0"/>
                <a:cs typeface="Times New Roman" pitchFamily="18" charset="0"/>
              </a:rPr>
              <a:t>III. Personnel Attributes</a:t>
            </a:r>
          </a:p>
          <a:p>
            <a:r>
              <a:rPr lang="en-IN" b="1" dirty="0">
                <a:latin typeface="Times New Roman" pitchFamily="18" charset="0"/>
                <a:cs typeface="Times New Roman" pitchFamily="18" charset="0"/>
              </a:rPr>
              <a:t>ACAP</a:t>
            </a:r>
            <a:r>
              <a:rPr lang="en-IN" dirty="0">
                <a:latin typeface="Times New Roman" pitchFamily="18" charset="0"/>
                <a:cs typeface="Times New Roman" pitchFamily="18" charset="0"/>
              </a:rPr>
              <a:t> Analyst Capability</a:t>
            </a:r>
          </a:p>
          <a:p>
            <a:r>
              <a:rPr lang="en-IN" dirty="0">
                <a:latin typeface="Times New Roman" pitchFamily="18" charset="0"/>
                <a:cs typeface="Times New Roman" pitchFamily="18" charset="0"/>
              </a:rPr>
              <a:t></a:t>
            </a:r>
            <a:r>
              <a:rPr lang="en-IN" b="1" dirty="0">
                <a:latin typeface="Times New Roman" pitchFamily="18" charset="0"/>
                <a:cs typeface="Times New Roman" pitchFamily="18" charset="0"/>
              </a:rPr>
              <a:t>AEXP</a:t>
            </a:r>
            <a:r>
              <a:rPr lang="en-IN" dirty="0">
                <a:latin typeface="Times New Roman" pitchFamily="18" charset="0"/>
                <a:cs typeface="Times New Roman" pitchFamily="18" charset="0"/>
              </a:rPr>
              <a:t> Application Experience</a:t>
            </a:r>
          </a:p>
          <a:p>
            <a:r>
              <a:rPr lang="en-IN" b="1" dirty="0">
                <a:latin typeface="Times New Roman" pitchFamily="18" charset="0"/>
                <a:cs typeface="Times New Roman" pitchFamily="18" charset="0"/>
              </a:rPr>
              <a:t>PCAP</a:t>
            </a:r>
            <a:r>
              <a:rPr lang="en-IN" dirty="0">
                <a:latin typeface="Times New Roman" pitchFamily="18" charset="0"/>
                <a:cs typeface="Times New Roman" pitchFamily="18" charset="0"/>
              </a:rPr>
              <a:t> Programming Capability</a:t>
            </a:r>
          </a:p>
          <a:p>
            <a:r>
              <a:rPr lang="en-IN" b="1" dirty="0">
                <a:latin typeface="Times New Roman" pitchFamily="18" charset="0"/>
                <a:cs typeface="Times New Roman" pitchFamily="18" charset="0"/>
              </a:rPr>
              <a:t>VEXP</a:t>
            </a:r>
            <a:r>
              <a:rPr lang="en-IN" dirty="0">
                <a:latin typeface="Times New Roman" pitchFamily="18" charset="0"/>
                <a:cs typeface="Times New Roman" pitchFamily="18" charset="0"/>
              </a:rPr>
              <a:t> Virtual Machine Experience1</a:t>
            </a:r>
          </a:p>
          <a:p>
            <a:r>
              <a:rPr lang="en-IN" b="1" dirty="0">
                <a:latin typeface="Times New Roman" pitchFamily="18" charset="0"/>
                <a:cs typeface="Times New Roman" pitchFamily="18" charset="0"/>
              </a:rPr>
              <a:t>LEXP</a:t>
            </a:r>
            <a:r>
              <a:rPr lang="en-IN" dirty="0">
                <a:latin typeface="Times New Roman" pitchFamily="18" charset="0"/>
                <a:cs typeface="Times New Roman" pitchFamily="18" charset="0"/>
              </a:rPr>
              <a:t> Programming Language Experience</a:t>
            </a:r>
          </a:p>
          <a:p>
            <a:pPr marL="0" indent="0">
              <a:buNone/>
            </a:pPr>
            <a:r>
              <a:rPr lang="en-US" dirty="0">
                <a:latin typeface="Times New Roman" pitchFamily="18" charset="0"/>
                <a:cs typeface="Times New Roman" pitchFamily="18" charset="0"/>
              </a:rPr>
              <a:t>IV. Project Attributes</a:t>
            </a:r>
          </a:p>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MODP</a:t>
            </a:r>
            <a:r>
              <a:rPr lang="en-US" dirty="0">
                <a:latin typeface="Times New Roman" pitchFamily="18" charset="0"/>
                <a:cs typeface="Times New Roman" pitchFamily="18" charset="0"/>
              </a:rPr>
              <a:t> Modern Programming Practices</a:t>
            </a:r>
          </a:p>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TOOL</a:t>
            </a:r>
            <a:r>
              <a:rPr lang="en-US" dirty="0">
                <a:latin typeface="Times New Roman" pitchFamily="18" charset="0"/>
                <a:cs typeface="Times New Roman" pitchFamily="18" charset="0"/>
              </a:rPr>
              <a:t> Use of Software Tools</a:t>
            </a:r>
          </a:p>
          <a:p>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SCED</a:t>
            </a:r>
            <a:r>
              <a:rPr lang="en-US" dirty="0">
                <a:latin typeface="Times New Roman" pitchFamily="18" charset="0"/>
                <a:cs typeface="Times New Roman" pitchFamily="18" charset="0"/>
              </a:rPr>
              <a:t> Required Development Schedule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68808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741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3453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algn="just"/>
            <a:r>
              <a:rPr lang="en-US" dirty="0">
                <a:latin typeface="Times New Roman" pitchFamily="18" charset="0"/>
                <a:cs typeface="Times New Roman" pitchFamily="18" charset="0"/>
              </a:rPr>
              <a:t>The Intermediate COCOMO formula now takes the form:</a:t>
            </a:r>
          </a:p>
          <a:p>
            <a:pPr marL="0" indent="0" algn="just">
              <a:buNone/>
            </a:pPr>
            <a:r>
              <a:rPr lang="en-US" dirty="0">
                <a:latin typeface="Times New Roman" pitchFamily="18" charset="0"/>
                <a:cs typeface="Times New Roman" pitchFamily="18" charset="0"/>
              </a:rPr>
              <a:t>		    E=a</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KLoC</a:t>
            </a:r>
            <a:r>
              <a:rPr lang="en-US" dirty="0">
                <a:latin typeface="Times New Roman" pitchFamily="18" charset="0"/>
                <a:cs typeface="Times New Roman" pitchFamily="18" charset="0"/>
              </a:rPr>
              <a:t>)</a:t>
            </a:r>
            <a:r>
              <a:rPr lang="en-US" baseline="30000" dirty="0">
                <a:latin typeface="Times New Roman" pitchFamily="18" charset="0"/>
                <a:cs typeface="Times New Roman" pitchFamily="18" charset="0"/>
              </a:rPr>
              <a:t>a2</a:t>
            </a:r>
            <a:r>
              <a:rPr lang="en-US" dirty="0">
                <a:latin typeface="Times New Roman" pitchFamily="18" charset="0"/>
                <a:cs typeface="Times New Roman" pitchFamily="18" charset="0"/>
              </a:rPr>
              <a:t>(EAF)</a:t>
            </a:r>
          </a:p>
          <a:p>
            <a:pPr marL="0" indent="0" algn="just">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t>
            </a:r>
            <a:r>
              <a:rPr lang="en-US" baseline="-25000" dirty="0" err="1">
                <a:latin typeface="Times New Roman" pitchFamily="18" charset="0"/>
                <a:cs typeface="Times New Roman" pitchFamily="18" charset="0"/>
              </a:rPr>
              <a:t>dev</a:t>
            </a:r>
            <a:r>
              <a:rPr lang="en-US" dirty="0">
                <a:latin typeface="Times New Roman" pitchFamily="18" charset="0"/>
                <a:cs typeface="Times New Roman" pitchFamily="18" charset="0"/>
              </a:rPr>
              <a:t>=b</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*(efforts)</a:t>
            </a:r>
            <a:r>
              <a:rPr lang="en-US" baseline="30000" dirty="0">
                <a:latin typeface="Times New Roman" pitchFamily="18" charset="0"/>
                <a:cs typeface="Times New Roman" pitchFamily="18" charset="0"/>
              </a:rPr>
              <a:t>b2</a:t>
            </a:r>
            <a:r>
              <a:rPr lang="en-US" dirty="0">
                <a:latin typeface="Times New Roman" pitchFamily="18" charset="0"/>
                <a:cs typeface="Times New Roman" pitchFamily="18" charset="0"/>
              </a:rPr>
              <a:t> Months</a:t>
            </a:r>
          </a:p>
          <a:p>
            <a:pPr algn="just"/>
            <a:r>
              <a:rPr lang="en-US" dirty="0">
                <a:latin typeface="Times New Roman" pitchFamily="18" charset="0"/>
                <a:cs typeface="Times New Roman" pitchFamily="18" charset="0"/>
              </a:rPr>
              <a:t>where </a:t>
            </a:r>
          </a:p>
          <a:p>
            <a:pPr lvl="1" algn="just"/>
            <a:r>
              <a:rPr lang="en-US" dirty="0">
                <a:latin typeface="Times New Roman" pitchFamily="18" charset="0"/>
                <a:cs typeface="Times New Roman" pitchFamily="18" charset="0"/>
              </a:rPr>
              <a:t>E is the effort applied in person-months, </a:t>
            </a:r>
          </a:p>
          <a:p>
            <a:pPr lvl="1" algn="just"/>
            <a:r>
              <a:rPr lang="en-US" dirty="0" err="1">
                <a:latin typeface="Times New Roman" pitchFamily="18" charset="0"/>
                <a:cs typeface="Times New Roman" pitchFamily="18" charset="0"/>
              </a:rPr>
              <a:t>KLoC</a:t>
            </a:r>
            <a:r>
              <a:rPr lang="en-US" dirty="0">
                <a:latin typeface="Times New Roman" pitchFamily="18" charset="0"/>
                <a:cs typeface="Times New Roman" pitchFamily="18" charset="0"/>
              </a:rPr>
              <a:t> is the estimated number of thousands of delivered lines of code for the project, and </a:t>
            </a:r>
          </a:p>
          <a:p>
            <a:pPr lvl="1" algn="just"/>
            <a:r>
              <a:rPr lang="en-US" dirty="0">
                <a:latin typeface="Times New Roman" pitchFamily="18" charset="0"/>
                <a:cs typeface="Times New Roman" pitchFamily="18" charset="0"/>
              </a:rPr>
              <a:t>EAF is the </a:t>
            </a:r>
            <a:r>
              <a:rPr lang="en-IN" dirty="0">
                <a:latin typeface="Times New Roman" pitchFamily="18" charset="0"/>
                <a:cs typeface="Times New Roman" pitchFamily="18" charset="0"/>
              </a:rPr>
              <a:t>effort adjustment factor</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794664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60648"/>
            <a:ext cx="8712968"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662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76672"/>
            <a:ext cx="7772400" cy="5543128"/>
          </a:xfrm>
        </p:spPr>
        <p:txBody>
          <a:bodyPr>
            <a:normAutofit lnSpcReduction="10000"/>
          </a:bodyPr>
          <a:lstStyle/>
          <a:p>
            <a:pPr marL="0" indent="0">
              <a:buNone/>
            </a:pPr>
            <a:r>
              <a:rPr lang="en-US" b="1" dirty="0"/>
              <a:t>Example1:</a:t>
            </a:r>
            <a:r>
              <a:rPr lang="en-US" dirty="0"/>
              <a:t> Suppose a project was estimated to be 400 KLOC. Calculate the effort (E) and development time (D) for each of the three model i.e., organic, semi-detached &amp; embedded. Let EAF is 1.17</a:t>
            </a:r>
          </a:p>
          <a:p>
            <a:pPr marL="0" indent="0">
              <a:buNone/>
            </a:pPr>
            <a:r>
              <a:rPr lang="en-IN" b="1" dirty="0"/>
              <a:t>(i)Organic Mode</a:t>
            </a:r>
            <a:endParaRPr lang="en-IN" dirty="0"/>
          </a:p>
          <a:p>
            <a:pPr marL="0" indent="0">
              <a:buNone/>
            </a:pPr>
            <a:r>
              <a:rPr lang="en-IN" dirty="0"/>
              <a:t>                E = 2.4 * (400)</a:t>
            </a:r>
            <a:r>
              <a:rPr lang="en-IN" baseline="30000" dirty="0"/>
              <a:t>1.05</a:t>
            </a:r>
            <a:r>
              <a:rPr lang="en-IN" dirty="0"/>
              <a:t> *1.17 = 1515.51 PM</a:t>
            </a:r>
            <a:br>
              <a:rPr lang="en-IN" dirty="0"/>
            </a:br>
            <a:r>
              <a:rPr lang="en-IN" dirty="0"/>
              <a:t>                D = 2.5 * (1515.51)</a:t>
            </a:r>
            <a:r>
              <a:rPr lang="en-IN" baseline="30000" dirty="0"/>
              <a:t>0.38</a:t>
            </a:r>
            <a:r>
              <a:rPr lang="en-IN" dirty="0"/>
              <a:t>=40.41 PM</a:t>
            </a:r>
          </a:p>
          <a:p>
            <a:pPr marL="0" indent="0">
              <a:buNone/>
            </a:pPr>
            <a:r>
              <a:rPr lang="en-IN" b="1" dirty="0"/>
              <a:t>(ii)Semidetached Mode</a:t>
            </a:r>
            <a:endParaRPr lang="en-IN" dirty="0"/>
          </a:p>
          <a:p>
            <a:pPr marL="0" indent="0">
              <a:buNone/>
            </a:pPr>
            <a:r>
              <a:rPr lang="en-IN" dirty="0"/>
              <a:t>                E = 3.0 * (400)</a:t>
            </a:r>
            <a:r>
              <a:rPr lang="en-IN" baseline="30000" dirty="0"/>
              <a:t>1.12 </a:t>
            </a:r>
            <a:r>
              <a:rPr lang="en-IN" dirty="0"/>
              <a:t>* 1.17=2881.46 PM</a:t>
            </a:r>
            <a:br>
              <a:rPr lang="en-IN" dirty="0"/>
            </a:br>
            <a:r>
              <a:rPr lang="en-IN" dirty="0"/>
              <a:t>                D = 2.5 * (2881.46)</a:t>
            </a:r>
            <a:r>
              <a:rPr lang="en-IN" baseline="30000" dirty="0"/>
              <a:t>0.35</a:t>
            </a:r>
            <a:r>
              <a:rPr lang="en-IN" dirty="0"/>
              <a:t>=40.63 PM</a:t>
            </a:r>
          </a:p>
          <a:p>
            <a:pPr marL="0" indent="0">
              <a:buNone/>
            </a:pPr>
            <a:r>
              <a:rPr lang="en-IN" b="1" dirty="0"/>
              <a:t>(iii) Embedded Mode</a:t>
            </a:r>
            <a:endParaRPr lang="en-IN" dirty="0"/>
          </a:p>
          <a:p>
            <a:pPr marL="0" indent="0">
              <a:buNone/>
            </a:pPr>
            <a:r>
              <a:rPr lang="en-IN" dirty="0"/>
              <a:t>                E = 3.6 * (400)</a:t>
            </a:r>
            <a:r>
              <a:rPr lang="en-IN" baseline="30000" dirty="0"/>
              <a:t>1.20</a:t>
            </a:r>
            <a:r>
              <a:rPr lang="en-IN" dirty="0"/>
              <a:t> * 1.17 = 5584.19 PM</a:t>
            </a:r>
            <a:br>
              <a:rPr lang="en-IN" dirty="0"/>
            </a:br>
            <a:r>
              <a:rPr lang="en-IN" dirty="0"/>
              <a:t>                D = 2.5 * (5584.19)</a:t>
            </a:r>
            <a:r>
              <a:rPr lang="en-IN" baseline="30000" dirty="0"/>
              <a:t>0.32</a:t>
            </a:r>
            <a:r>
              <a:rPr lang="en-IN" dirty="0"/>
              <a:t> = 39.53 PM</a:t>
            </a:r>
          </a:p>
          <a:p>
            <a:pPr marL="0" indent="0">
              <a:buNone/>
            </a:pPr>
            <a:endParaRPr lang="en-IN" dirty="0"/>
          </a:p>
        </p:txBody>
      </p:sp>
    </p:spTree>
    <p:extLst>
      <p:ext uri="{BB962C8B-B14F-4D97-AF65-F5344CB8AC3E}">
        <p14:creationId xmlns:p14="http://schemas.microsoft.com/office/powerpoint/2010/main" val="652049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Detailed COCOMO</a:t>
            </a:r>
            <a:endParaRPr lang="en-IN" dirty="0"/>
          </a:p>
        </p:txBody>
      </p:sp>
      <p:sp>
        <p:nvSpPr>
          <p:cNvPr id="3" name="Content Placeholder 2"/>
          <p:cNvSpPr>
            <a:spLocks noGrp="1"/>
          </p:cNvSpPr>
          <p:nvPr>
            <p:ph sz="quarter" idx="1"/>
          </p:nvPr>
        </p:nvSpPr>
        <p:spPr/>
        <p:txBody>
          <a:bodyPr>
            <a:normAutofit/>
          </a:bodyPr>
          <a:lstStyle/>
          <a:p>
            <a:pPr algn="just"/>
            <a:r>
              <a:rPr lang="en-US" sz="2400" dirty="0">
                <a:latin typeface="Times New Roman" pitchFamily="18" charset="0"/>
                <a:cs typeface="Times New Roman" pitchFamily="18" charset="0"/>
              </a:rPr>
              <a:t>It incorporates all characteristics of the intermediate version with an assessment of the cost driver’s impact on each step of the software engineering process. </a:t>
            </a:r>
          </a:p>
          <a:p>
            <a:pPr algn="just"/>
            <a:r>
              <a:rPr lang="en-US" sz="2400" dirty="0">
                <a:latin typeface="Times New Roman" pitchFamily="18" charset="0"/>
                <a:cs typeface="Times New Roman" pitchFamily="18" charset="0"/>
              </a:rPr>
              <a:t>The detailed model uses different effort multipliers for each cost driver attribute. </a:t>
            </a:r>
          </a:p>
          <a:p>
            <a:pPr algn="just"/>
            <a:r>
              <a:rPr lang="en-US" sz="2400" dirty="0">
                <a:latin typeface="Times New Roman" pitchFamily="18" charset="0"/>
                <a:cs typeface="Times New Roman" pitchFamily="18" charset="0"/>
              </a:rPr>
              <a:t>In detailed </a:t>
            </a:r>
            <a:r>
              <a:rPr lang="en-US" sz="2400" dirty="0" err="1">
                <a:latin typeface="Times New Roman" pitchFamily="18" charset="0"/>
                <a:cs typeface="Times New Roman" pitchFamily="18" charset="0"/>
              </a:rPr>
              <a:t>cocomo</a:t>
            </a:r>
            <a:r>
              <a:rPr lang="en-US" sz="2400" dirty="0">
                <a:latin typeface="Times New Roman" pitchFamily="18" charset="0"/>
                <a:cs typeface="Times New Roman" pitchFamily="18" charset="0"/>
              </a:rPr>
              <a:t>, the whole software is divided into different modules and then we apply COCOMO in different modules to estimate effort and then sum the effort. </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4070569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Six phases of detailed COCOMO are</a:t>
            </a:r>
            <a:endParaRPr lang="en-IN" dirty="0"/>
          </a:p>
        </p:txBody>
      </p:sp>
      <p:sp>
        <p:nvSpPr>
          <p:cNvPr id="3" name="Content Placeholder 2"/>
          <p:cNvSpPr>
            <a:spLocks noGrp="1"/>
          </p:cNvSpPr>
          <p:nvPr>
            <p:ph sz="quarter" idx="1"/>
          </p:nvPr>
        </p:nvSpPr>
        <p:spPr/>
        <p:txBody>
          <a:bodyPr>
            <a:normAutofit/>
          </a:bodyPr>
          <a:lstStyle/>
          <a:p>
            <a:r>
              <a:rPr lang="en-US" dirty="0">
                <a:latin typeface="Times New Roman" pitchFamily="18" charset="0"/>
                <a:cs typeface="Times New Roman" pitchFamily="18" charset="0"/>
              </a:rPr>
              <a:t>Planning and requirements</a:t>
            </a:r>
          </a:p>
          <a:p>
            <a:r>
              <a:rPr lang="en-US" dirty="0">
                <a:latin typeface="Times New Roman" pitchFamily="18" charset="0"/>
                <a:cs typeface="Times New Roman" pitchFamily="18" charset="0"/>
              </a:rPr>
              <a:t>System design</a:t>
            </a:r>
          </a:p>
          <a:p>
            <a:r>
              <a:rPr lang="en-US" dirty="0">
                <a:latin typeface="Times New Roman" pitchFamily="18" charset="0"/>
                <a:cs typeface="Times New Roman" pitchFamily="18" charset="0"/>
              </a:rPr>
              <a:t>Detailed design</a:t>
            </a:r>
          </a:p>
          <a:p>
            <a:r>
              <a:rPr lang="en-US" dirty="0">
                <a:latin typeface="Times New Roman" pitchFamily="18" charset="0"/>
                <a:cs typeface="Times New Roman" pitchFamily="18" charset="0"/>
              </a:rPr>
              <a:t>Module code and test</a:t>
            </a:r>
          </a:p>
          <a:p>
            <a:r>
              <a:rPr lang="en-US" dirty="0">
                <a:latin typeface="Times New Roman" pitchFamily="18" charset="0"/>
                <a:cs typeface="Times New Roman" pitchFamily="18" charset="0"/>
              </a:rPr>
              <a:t>Integration and test</a:t>
            </a:r>
          </a:p>
          <a:p>
            <a:r>
              <a:rPr lang="en-US" dirty="0">
                <a:latin typeface="Times New Roman" pitchFamily="18" charset="0"/>
                <a:cs typeface="Times New Roman" pitchFamily="18" charset="0"/>
              </a:rPr>
              <a:t>Cost Constructive model</a:t>
            </a:r>
          </a:p>
          <a:p>
            <a:r>
              <a:rPr lang="en-US" dirty="0">
                <a:latin typeface="Times New Roman" pitchFamily="18" charset="0"/>
                <a:cs typeface="Times New Roman" pitchFamily="18" charset="0"/>
              </a:rPr>
              <a:t>The effort is calculated as a function of program size and a set of cost drivers are given according to each phase of the software lifecycle. </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026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Analytical Technique</a:t>
            </a:r>
            <a:endParaRPr lang="en-IN" dirty="0"/>
          </a:p>
        </p:txBody>
      </p:sp>
      <p:sp>
        <p:nvSpPr>
          <p:cNvPr id="3" name="Content Placeholder 2"/>
          <p:cNvSpPr>
            <a:spLocks noGrp="1"/>
          </p:cNvSpPr>
          <p:nvPr>
            <p:ph sz="quarter" idx="1"/>
          </p:nvPr>
        </p:nvSpPr>
        <p:spPr/>
        <p:txBody>
          <a:bodyPr>
            <a:normAutofit fontScale="92500" lnSpcReduction="10000"/>
          </a:bodyPr>
          <a:lstStyle/>
          <a:p>
            <a:pPr marL="0" indent="0">
              <a:buNone/>
            </a:pPr>
            <a:r>
              <a:rPr lang="en-IN" b="1" dirty="0">
                <a:latin typeface="Times New Roman" pitchFamily="18" charset="0"/>
                <a:cs typeface="Times New Roman" pitchFamily="18" charset="0"/>
              </a:rPr>
              <a:t>Halstead's Software Metrics</a:t>
            </a:r>
          </a:p>
          <a:p>
            <a:pPr algn="just"/>
            <a:r>
              <a:rPr lang="en-US" dirty="0">
                <a:latin typeface="Times New Roman" pitchFamily="18" charset="0"/>
                <a:cs typeface="Times New Roman" pitchFamily="18" charset="0"/>
              </a:rPr>
              <a:t>According to Halstead's "A computer program is an implementation of an algorithm considered to be a collection of tokens which can be classified as either operators or operand."</a:t>
            </a:r>
            <a:endParaRPr lang="en-IN"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All software science metrics can be defined in terms of these basic symbols. These symbols are called as a token.</a:t>
            </a:r>
          </a:p>
          <a:p>
            <a:pPr algn="just"/>
            <a:r>
              <a:rPr lang="en-US" dirty="0">
                <a:latin typeface="Times New Roman" pitchFamily="18" charset="0"/>
                <a:cs typeface="Times New Roman" pitchFamily="18" charset="0"/>
              </a:rPr>
              <a:t>The basic measures are</a:t>
            </a:r>
          </a:p>
          <a:p>
            <a:r>
              <a:rPr lang="en-US" dirty="0">
                <a:latin typeface="Times New Roman" pitchFamily="18" charset="0"/>
                <a:cs typeface="Times New Roman" pitchFamily="18" charset="0"/>
              </a:rPr>
              <a:t>n1 = count of unique operators.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n2 = count of unique operands.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N1 = count of total occurrences of operators.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N2 = count of total occurrence of operands.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874407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Halstead Metrics</a:t>
            </a:r>
            <a:endParaRPr lang="en-IN"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684233565"/>
              </p:ext>
            </p:extLst>
          </p:nvPr>
        </p:nvGraphicFramePr>
        <p:xfrm>
          <a:off x="914400" y="1996440"/>
          <a:ext cx="7772400" cy="4023360"/>
        </p:xfrm>
        <a:graphic>
          <a:graphicData uri="http://schemas.openxmlformats.org/drawingml/2006/table">
            <a:tbl>
              <a:tblPr/>
              <a:tblGrid>
                <a:gridCol w="1209328">
                  <a:extLst>
                    <a:ext uri="{9D8B030D-6E8A-4147-A177-3AD203B41FA5}">
                      <a16:colId xmlns:a16="http://schemas.microsoft.com/office/drawing/2014/main" val="20000"/>
                    </a:ext>
                  </a:extLst>
                </a:gridCol>
                <a:gridCol w="2232248">
                  <a:extLst>
                    <a:ext uri="{9D8B030D-6E8A-4147-A177-3AD203B41FA5}">
                      <a16:colId xmlns:a16="http://schemas.microsoft.com/office/drawing/2014/main" val="20001"/>
                    </a:ext>
                  </a:extLst>
                </a:gridCol>
                <a:gridCol w="4330824">
                  <a:extLst>
                    <a:ext uri="{9D8B030D-6E8A-4147-A177-3AD203B41FA5}">
                      <a16:colId xmlns:a16="http://schemas.microsoft.com/office/drawing/2014/main" val="20002"/>
                    </a:ext>
                  </a:extLst>
                </a:gridCol>
              </a:tblGrid>
              <a:tr h="0">
                <a:tc>
                  <a:txBody>
                    <a:bodyPr/>
                    <a:lstStyle/>
                    <a:p>
                      <a:r>
                        <a:rPr lang="en-IN" sz="2400" dirty="0">
                          <a:latin typeface="Times New Roman" pitchFamily="18" charset="0"/>
                          <a:cs typeface="Times New Roman" pitchFamily="18" charset="0"/>
                        </a:rPr>
                        <a:t>Metric</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Meaning</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Mathematical Representation</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sz="2400">
                          <a:latin typeface="Times New Roman" pitchFamily="18" charset="0"/>
                          <a:cs typeface="Times New Roman" pitchFamily="18" charset="0"/>
                        </a:rPr>
                        <a:t>n</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Vocabulary</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n1 + n2</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sz="2400">
                          <a:latin typeface="Times New Roman" pitchFamily="18" charset="0"/>
                          <a:cs typeface="Times New Roman" pitchFamily="18" charset="0"/>
                        </a:rPr>
                        <a:t>N</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Size</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N1 + N2</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sz="2400">
                          <a:latin typeface="Times New Roman" pitchFamily="18" charset="0"/>
                          <a:cs typeface="Times New Roman" pitchFamily="18" charset="0"/>
                        </a:rPr>
                        <a:t>V</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Volume</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N * Log</a:t>
                      </a:r>
                      <a:r>
                        <a:rPr lang="en-IN" sz="2400" baseline="-25000" dirty="0">
                          <a:latin typeface="Times New Roman" pitchFamily="18" charset="0"/>
                          <a:cs typeface="Times New Roman" pitchFamily="18" charset="0"/>
                        </a:rPr>
                        <a:t>2</a:t>
                      </a:r>
                      <a:r>
                        <a:rPr lang="en-IN" sz="2400" dirty="0">
                          <a:latin typeface="Times New Roman" pitchFamily="18" charset="0"/>
                          <a:cs typeface="Times New Roman" pitchFamily="18" charset="0"/>
                        </a:rPr>
                        <a:t> n</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sz="2400">
                          <a:latin typeface="Times New Roman" pitchFamily="18" charset="0"/>
                          <a:cs typeface="Times New Roman" pitchFamily="18" charset="0"/>
                        </a:rPr>
                        <a:t>D</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Difficulty</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(n1/2) * (N1/n2)</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IN" sz="2400">
                          <a:latin typeface="Times New Roman" pitchFamily="18" charset="0"/>
                          <a:cs typeface="Times New Roman" pitchFamily="18" charset="0"/>
                        </a:rPr>
                        <a:t>E</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Efforts</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Difficulty * Volume</a:t>
                      </a:r>
                    </a:p>
                  </a:txBody>
                  <a:tcPr anchor="ctr">
                    <a:lnL>
                      <a:noFill/>
                    </a:lnL>
                    <a:lnR>
                      <a:noFill/>
                    </a:lnR>
                    <a:lnT>
                      <a:noFill/>
                    </a:lnT>
                    <a:lnB>
                      <a:noFill/>
                    </a:lnB>
                  </a:tcPr>
                </a:tc>
                <a:extLst>
                  <a:ext uri="{0D108BD9-81ED-4DB2-BD59-A6C34878D82A}">
                    <a16:rowId xmlns:a16="http://schemas.microsoft.com/office/drawing/2014/main" val="10005"/>
                  </a:ext>
                </a:extLst>
              </a:tr>
              <a:tr h="0">
                <a:tc>
                  <a:txBody>
                    <a:bodyPr/>
                    <a:lstStyle/>
                    <a:p>
                      <a:r>
                        <a:rPr lang="en-IN" sz="2400">
                          <a:latin typeface="Times New Roman" pitchFamily="18" charset="0"/>
                          <a:cs typeface="Times New Roman" pitchFamily="18" charset="0"/>
                        </a:rPr>
                        <a:t>B</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Errors</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Volume / 3000</a:t>
                      </a:r>
                    </a:p>
                  </a:txBody>
                  <a:tcPr anchor="ctr">
                    <a:lnL>
                      <a:noFill/>
                    </a:lnL>
                    <a:lnR>
                      <a:noFill/>
                    </a:lnR>
                    <a:lnT>
                      <a:noFill/>
                    </a:lnT>
                    <a:lnB>
                      <a:noFill/>
                    </a:lnB>
                  </a:tcPr>
                </a:tc>
                <a:extLst>
                  <a:ext uri="{0D108BD9-81ED-4DB2-BD59-A6C34878D82A}">
                    <a16:rowId xmlns:a16="http://schemas.microsoft.com/office/drawing/2014/main" val="10006"/>
                  </a:ext>
                </a:extLst>
              </a:tr>
              <a:tr h="0">
                <a:tc>
                  <a:txBody>
                    <a:bodyPr/>
                    <a:lstStyle/>
                    <a:p>
                      <a:r>
                        <a:rPr lang="en-IN" sz="2400">
                          <a:latin typeface="Times New Roman" pitchFamily="18" charset="0"/>
                          <a:cs typeface="Times New Roman" pitchFamily="18" charset="0"/>
                        </a:rPr>
                        <a:t>T</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Testing time</a:t>
                      </a:r>
                    </a:p>
                  </a:txBody>
                  <a:tcPr anchor="ctr">
                    <a:lnL>
                      <a:noFill/>
                    </a:lnL>
                    <a:lnR>
                      <a:noFill/>
                    </a:lnR>
                    <a:lnT>
                      <a:noFill/>
                    </a:lnT>
                    <a:lnB>
                      <a:noFill/>
                    </a:lnB>
                  </a:tcPr>
                </a:tc>
                <a:tc>
                  <a:txBody>
                    <a:bodyPr/>
                    <a:lstStyle/>
                    <a:p>
                      <a:r>
                        <a:rPr lang="en-US" sz="2400" dirty="0">
                          <a:latin typeface="Times New Roman" pitchFamily="18" charset="0"/>
                          <a:cs typeface="Times New Roman" pitchFamily="18" charset="0"/>
                        </a:rPr>
                        <a:t>Time = Efforts / S, where S=18 seconds.</a:t>
                      </a:r>
                    </a:p>
                  </a:txBody>
                  <a:tcPr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8820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Halstead Metrics</a:t>
            </a:r>
            <a:endParaRPr lang="en-IN" dirty="0"/>
          </a:p>
        </p:txBody>
      </p:sp>
      <p:sp>
        <p:nvSpPr>
          <p:cNvPr id="3" name="Content Placeholder 2"/>
          <p:cNvSpPr>
            <a:spLocks noGrp="1"/>
          </p:cNvSpPr>
          <p:nvPr>
            <p:ph sz="quarter" idx="1"/>
          </p:nvPr>
        </p:nvSpPr>
        <p:spPr/>
        <p:txBody>
          <a:bodyPr>
            <a:normAutofit fontScale="92500" lnSpcReduction="10000"/>
          </a:bodyPr>
          <a:lstStyle/>
          <a:p>
            <a:pPr marL="0" indent="0" algn="just">
              <a:buNone/>
            </a:pPr>
            <a:r>
              <a:rPr lang="en-US" dirty="0">
                <a:latin typeface="Times New Roman" pitchFamily="18" charset="0"/>
                <a:cs typeface="Times New Roman" pitchFamily="18" charset="0"/>
              </a:rPr>
              <a:t>1. </a:t>
            </a:r>
            <a:r>
              <a:rPr lang="en-US" b="1" dirty="0">
                <a:latin typeface="Times New Roman" pitchFamily="18" charset="0"/>
                <a:cs typeface="Times New Roman" pitchFamily="18" charset="0"/>
              </a:rPr>
              <a:t>Length of the Program (N)</a:t>
            </a:r>
            <a:r>
              <a:rPr lang="en-US" dirty="0">
                <a:latin typeface="Times New Roman" pitchFamily="18" charset="0"/>
                <a:cs typeface="Times New Roman" pitchFamily="18" charset="0"/>
              </a:rPr>
              <a:t>:  In terms of the total tokens used, the size of the program can be expressed as:</a:t>
            </a:r>
          </a:p>
          <a:p>
            <a:pPr marL="0" indent="0" algn="just">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N=N</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N</a:t>
            </a:r>
            <a:r>
              <a:rPr lang="en-US" b="1" baseline="-25000" dirty="0">
                <a:latin typeface="Times New Roman" pitchFamily="18" charset="0"/>
                <a:cs typeface="Times New Roman" pitchFamily="18" charset="0"/>
              </a:rPr>
              <a:t>2</a:t>
            </a:r>
          </a:p>
          <a:p>
            <a:pPr marL="0" indent="0" algn="just">
              <a:buNone/>
            </a:pPr>
            <a:r>
              <a:rPr lang="en-IN" dirty="0">
                <a:latin typeface="Times New Roman" pitchFamily="18" charset="0"/>
                <a:cs typeface="Times New Roman" pitchFamily="18" charset="0"/>
              </a:rPr>
              <a:t>And estimated program length is denoted by N^</a:t>
            </a:r>
          </a:p>
          <a:p>
            <a:pPr marL="0" indent="0" algn="just">
              <a:buNone/>
            </a:pPr>
            <a:r>
              <a:rPr lang="en-IN" dirty="0">
                <a:latin typeface="Times New Roman" pitchFamily="18" charset="0"/>
                <a:cs typeface="Times New Roman" pitchFamily="18" charset="0"/>
              </a:rPr>
              <a:t>        N^ = n1log</a:t>
            </a:r>
            <a:r>
              <a:rPr lang="en-IN" baseline="-25000" dirty="0">
                <a:latin typeface="Times New Roman" pitchFamily="18" charset="0"/>
                <a:cs typeface="Times New Roman" pitchFamily="18" charset="0"/>
              </a:rPr>
              <a:t>2</a:t>
            </a:r>
            <a:r>
              <a:rPr lang="en-IN" dirty="0">
                <a:latin typeface="Times New Roman" pitchFamily="18" charset="0"/>
                <a:cs typeface="Times New Roman" pitchFamily="18" charset="0"/>
              </a:rPr>
              <a:t>n1 + n2log</a:t>
            </a:r>
            <a:r>
              <a:rPr lang="en-IN" baseline="-25000" dirty="0">
                <a:latin typeface="Times New Roman" pitchFamily="18" charset="0"/>
                <a:cs typeface="Times New Roman" pitchFamily="18" charset="0"/>
              </a:rPr>
              <a:t>2</a:t>
            </a:r>
            <a:r>
              <a:rPr lang="en-IN" dirty="0">
                <a:latin typeface="Times New Roman" pitchFamily="18" charset="0"/>
                <a:cs typeface="Times New Roman" pitchFamily="18" charset="0"/>
              </a:rPr>
              <a:t>n2</a:t>
            </a:r>
          </a:p>
          <a:p>
            <a:pPr marL="0" indent="0" algn="just">
              <a:buNone/>
            </a:pPr>
            <a:r>
              <a:rPr lang="en-IN" dirty="0">
                <a:latin typeface="Times New Roman" pitchFamily="18" charset="0"/>
                <a:cs typeface="Times New Roman" pitchFamily="18" charset="0"/>
              </a:rPr>
              <a:t>The following alternate expressions have been published to estimate program length:</a:t>
            </a:r>
          </a:p>
          <a:p>
            <a:pPr marL="0" indent="0" algn="just">
              <a:buNone/>
            </a:pPr>
            <a:r>
              <a:rPr lang="en-IN" dirty="0">
                <a:latin typeface="Times New Roman" pitchFamily="18" charset="0"/>
                <a:cs typeface="Times New Roman" pitchFamily="18" charset="0"/>
              </a:rPr>
              <a:t>N</a:t>
            </a:r>
            <a:r>
              <a:rPr lang="en-IN" baseline="-25000" dirty="0">
                <a:latin typeface="Times New Roman" pitchFamily="18" charset="0"/>
                <a:cs typeface="Times New Roman" pitchFamily="18" charset="0"/>
              </a:rPr>
              <a:t>J</a:t>
            </a:r>
            <a:r>
              <a:rPr lang="en-IN" dirty="0">
                <a:latin typeface="Times New Roman" pitchFamily="18" charset="0"/>
                <a:cs typeface="Times New Roman" pitchFamily="18" charset="0"/>
              </a:rPr>
              <a:t> = log</a:t>
            </a:r>
            <a:r>
              <a:rPr lang="en-IN" baseline="-25000" dirty="0">
                <a:latin typeface="Times New Roman" pitchFamily="18" charset="0"/>
                <a:cs typeface="Times New Roman" pitchFamily="18" charset="0"/>
              </a:rPr>
              <a:t>2</a:t>
            </a:r>
            <a:r>
              <a:rPr lang="en-IN" dirty="0">
                <a:latin typeface="Times New Roman" pitchFamily="18" charset="0"/>
                <a:cs typeface="Times New Roman" pitchFamily="18" charset="0"/>
              </a:rPr>
              <a:t> (n1!) + log</a:t>
            </a:r>
            <a:r>
              <a:rPr lang="en-IN" baseline="-25000" dirty="0">
                <a:latin typeface="Times New Roman" pitchFamily="18" charset="0"/>
                <a:cs typeface="Times New Roman" pitchFamily="18" charset="0"/>
              </a:rPr>
              <a:t>2</a:t>
            </a:r>
            <a:r>
              <a:rPr lang="en-IN" dirty="0">
                <a:latin typeface="Times New Roman" pitchFamily="18" charset="0"/>
                <a:cs typeface="Times New Roman" pitchFamily="18" charset="0"/>
              </a:rPr>
              <a:t> (n2!)</a:t>
            </a:r>
          </a:p>
          <a:p>
            <a:pPr marL="0" indent="0" algn="just">
              <a:buNone/>
            </a:pPr>
            <a:r>
              <a:rPr lang="en-IN" dirty="0">
                <a:latin typeface="Times New Roman" pitchFamily="18" charset="0"/>
                <a:cs typeface="Times New Roman" pitchFamily="18" charset="0"/>
              </a:rPr>
              <a:t>N</a:t>
            </a:r>
            <a:r>
              <a:rPr lang="en-IN" baseline="-25000" dirty="0">
                <a:latin typeface="Times New Roman" pitchFamily="18" charset="0"/>
                <a:cs typeface="Times New Roman" pitchFamily="18" charset="0"/>
              </a:rPr>
              <a:t>B</a:t>
            </a:r>
            <a:r>
              <a:rPr lang="en-IN" dirty="0">
                <a:latin typeface="Times New Roman" pitchFamily="18" charset="0"/>
                <a:cs typeface="Times New Roman" pitchFamily="18" charset="0"/>
              </a:rPr>
              <a:t> = n1 * log</a:t>
            </a:r>
            <a:r>
              <a:rPr lang="en-IN" baseline="-25000" dirty="0">
                <a:latin typeface="Times New Roman" pitchFamily="18" charset="0"/>
                <a:cs typeface="Times New Roman" pitchFamily="18" charset="0"/>
              </a:rPr>
              <a:t>2</a:t>
            </a:r>
            <a:r>
              <a:rPr lang="en-IN" dirty="0">
                <a:latin typeface="Times New Roman" pitchFamily="18" charset="0"/>
                <a:cs typeface="Times New Roman" pitchFamily="18" charset="0"/>
              </a:rPr>
              <a:t>n2 + n2 * log2n1</a:t>
            </a:r>
          </a:p>
          <a:p>
            <a:pPr marL="0" indent="0" algn="just">
              <a:buNone/>
            </a:pPr>
            <a:r>
              <a:rPr lang="en-IN" dirty="0">
                <a:latin typeface="Times New Roman" pitchFamily="18" charset="0"/>
                <a:cs typeface="Times New Roman" pitchFamily="18" charset="0"/>
              </a:rPr>
              <a:t>N</a:t>
            </a:r>
            <a:r>
              <a:rPr lang="en-IN" baseline="-25000" dirty="0">
                <a:latin typeface="Times New Roman" pitchFamily="18" charset="0"/>
                <a:cs typeface="Times New Roman" pitchFamily="18" charset="0"/>
              </a:rPr>
              <a:t>C</a:t>
            </a:r>
            <a:r>
              <a:rPr lang="en-IN" dirty="0">
                <a:latin typeface="Times New Roman" pitchFamily="18" charset="0"/>
                <a:cs typeface="Times New Roman" pitchFamily="18" charset="0"/>
              </a:rPr>
              <a:t> = n1 * </a:t>
            </a:r>
            <a:r>
              <a:rPr lang="en-IN" dirty="0" err="1">
                <a:latin typeface="Times New Roman" pitchFamily="18" charset="0"/>
                <a:cs typeface="Times New Roman" pitchFamily="18" charset="0"/>
              </a:rPr>
              <a:t>sqrt</a:t>
            </a:r>
            <a:r>
              <a:rPr lang="en-IN" dirty="0">
                <a:latin typeface="Times New Roman" pitchFamily="18" charset="0"/>
                <a:cs typeface="Times New Roman" pitchFamily="18" charset="0"/>
              </a:rPr>
              <a:t>(n1) + n2 * </a:t>
            </a:r>
            <a:r>
              <a:rPr lang="en-IN" dirty="0" err="1">
                <a:latin typeface="Times New Roman" pitchFamily="18" charset="0"/>
                <a:cs typeface="Times New Roman" pitchFamily="18" charset="0"/>
              </a:rPr>
              <a:t>sqrt</a:t>
            </a:r>
            <a:r>
              <a:rPr lang="en-IN" dirty="0">
                <a:latin typeface="Times New Roman" pitchFamily="18" charset="0"/>
                <a:cs typeface="Times New Roman" pitchFamily="18" charset="0"/>
              </a:rPr>
              <a:t>(n2)</a:t>
            </a:r>
          </a:p>
          <a:p>
            <a:pPr marL="0" indent="0" algn="just">
              <a:buNone/>
            </a:pPr>
            <a:r>
              <a:rPr lang="en-IN" dirty="0">
                <a:latin typeface="Times New Roman" pitchFamily="18" charset="0"/>
                <a:cs typeface="Times New Roman" pitchFamily="18" charset="0"/>
              </a:rPr>
              <a:t>N</a:t>
            </a:r>
            <a:r>
              <a:rPr lang="en-IN" baseline="-25000" dirty="0">
                <a:latin typeface="Times New Roman" pitchFamily="18" charset="0"/>
                <a:cs typeface="Times New Roman" pitchFamily="18" charset="0"/>
              </a:rPr>
              <a:t>S</a:t>
            </a:r>
            <a:r>
              <a:rPr lang="en-IN" dirty="0">
                <a:latin typeface="Times New Roman" pitchFamily="18" charset="0"/>
                <a:cs typeface="Times New Roman" pitchFamily="18" charset="0"/>
              </a:rPr>
              <a:t> = (n * log</a:t>
            </a:r>
            <a:r>
              <a:rPr lang="en-IN" baseline="-25000" dirty="0">
                <a:latin typeface="Times New Roman" pitchFamily="18" charset="0"/>
                <a:cs typeface="Times New Roman" pitchFamily="18" charset="0"/>
              </a:rPr>
              <a:t>2</a:t>
            </a:r>
            <a:r>
              <a:rPr lang="en-IN" dirty="0">
                <a:latin typeface="Times New Roman" pitchFamily="18" charset="0"/>
                <a:cs typeface="Times New Roman" pitchFamily="18" charset="0"/>
              </a:rPr>
              <a:t>n) / 2</a:t>
            </a:r>
          </a:p>
          <a:p>
            <a:pPr marL="0" indent="0" algn="just">
              <a:buNone/>
            </a:pPr>
            <a:endParaRPr lang="en-US" b="1" baseline="-25000" dirty="0">
              <a:latin typeface="Times New Roman" pitchFamily="18" charset="0"/>
              <a:cs typeface="Times New Roman" pitchFamily="18" charset="0"/>
            </a:endParaRPr>
          </a:p>
          <a:p>
            <a:pPr marL="0" indent="0" algn="just">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208898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marL="0" indent="0" algn="just">
              <a:buNone/>
            </a:pPr>
            <a:r>
              <a:rPr lang="en-US" dirty="0">
                <a:latin typeface="Times New Roman" pitchFamily="18" charset="0"/>
                <a:cs typeface="Times New Roman" pitchFamily="18" charset="0"/>
              </a:rPr>
              <a:t>2. </a:t>
            </a:r>
            <a:r>
              <a:rPr lang="en-US" b="1" dirty="0">
                <a:latin typeface="Times New Roman" pitchFamily="18" charset="0"/>
                <a:cs typeface="Times New Roman" pitchFamily="18" charset="0"/>
              </a:rPr>
              <a:t>Size of Vocabulary (n)</a:t>
            </a:r>
            <a:endParaRPr lang="en-US"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The size of the vocabulary of a program, which consists of the number of unique tokens used to build a program, is defined as:</a:t>
            </a:r>
          </a:p>
          <a:p>
            <a:pPr marL="0" indent="0" algn="just">
              <a:buNone/>
            </a:pP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  n =  n</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n</a:t>
            </a:r>
            <a:r>
              <a:rPr lang="en-US" b="1" baseline="-25000" dirty="0">
                <a:latin typeface="Times New Roman" pitchFamily="18" charset="0"/>
                <a:cs typeface="Times New Roman" pitchFamily="18" charset="0"/>
              </a:rPr>
              <a:t>2</a:t>
            </a:r>
          </a:p>
          <a:p>
            <a:pPr marL="0" indent="0" algn="just">
              <a:buNone/>
            </a:pPr>
            <a:r>
              <a:rPr lang="en-US" dirty="0">
                <a:latin typeface="Times New Roman" pitchFamily="18" charset="0"/>
                <a:cs typeface="Times New Roman" pitchFamily="18" charset="0"/>
              </a:rPr>
              <a:t>where</a:t>
            </a:r>
          </a:p>
          <a:p>
            <a:pPr marL="0" indent="0">
              <a:buNone/>
            </a:pPr>
            <a:r>
              <a:rPr lang="en-US" dirty="0">
                <a:latin typeface="Times New Roman" pitchFamily="18" charset="0"/>
                <a:cs typeface="Times New Roman" pitchFamily="18" charset="0"/>
              </a:rPr>
              <a:t>n=vocabulary of a program</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n1=number of unique operators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n2=number of unique operands</a:t>
            </a:r>
          </a:p>
        </p:txBody>
      </p:sp>
    </p:spTree>
    <p:extLst>
      <p:ext uri="{BB962C8B-B14F-4D97-AF65-F5344CB8AC3E}">
        <p14:creationId xmlns:p14="http://schemas.microsoft.com/office/powerpoint/2010/main" val="3515108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04664"/>
            <a:ext cx="7772400" cy="5615136"/>
          </a:xfrm>
        </p:spPr>
        <p:txBody>
          <a:bodyPr>
            <a:normAutofit fontScale="92500" lnSpcReduction="10000"/>
          </a:bodyPr>
          <a:lstStyle/>
          <a:p>
            <a:pPr marL="0" indent="0">
              <a:buNone/>
            </a:pPr>
            <a:r>
              <a:rPr lang="en-US" b="1" dirty="0">
                <a:latin typeface="Times New Roman" pitchFamily="18" charset="0"/>
                <a:cs typeface="Times New Roman" pitchFamily="18" charset="0"/>
              </a:rPr>
              <a:t>3. Program Volume (V)</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The unit of measurement of volume is the standard unit for size "bits." It is the actual size of a program if a uniform binary encoding for the vocabulary is used.</a:t>
            </a:r>
          </a:p>
          <a:p>
            <a:pPr marL="0" indent="0">
              <a:buNone/>
            </a:pPr>
            <a:r>
              <a:rPr lang="en-US" dirty="0">
                <a:latin typeface="Times New Roman" pitchFamily="18" charset="0"/>
                <a:cs typeface="Times New Roman" pitchFamily="18" charset="0"/>
              </a:rPr>
              <a:t>        V=N*log</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n</a:t>
            </a:r>
          </a:p>
          <a:p>
            <a:pPr marL="0" indent="0">
              <a:buNone/>
            </a:pPr>
            <a:r>
              <a:rPr lang="en-US" b="1" dirty="0">
                <a:latin typeface="Times New Roman" pitchFamily="18" charset="0"/>
                <a:cs typeface="Times New Roman" pitchFamily="18" charset="0"/>
              </a:rPr>
              <a:t>4. Program Level (L)</a:t>
            </a: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The value of L ranges between zero and one, with L=1 representing a program written at the highest possible level (i.e., with minimum size).</a:t>
            </a:r>
          </a:p>
          <a:p>
            <a:pPr marL="0" indent="0">
              <a:buNone/>
            </a:pPr>
            <a:r>
              <a:rPr lang="en-US" dirty="0">
                <a:latin typeface="Times New Roman" pitchFamily="18" charset="0"/>
                <a:cs typeface="Times New Roman" pitchFamily="18" charset="0"/>
              </a:rPr>
              <a:t>        L=V*/V</a:t>
            </a:r>
          </a:p>
          <a:p>
            <a:pPr marL="0" indent="0">
              <a:buNone/>
            </a:pPr>
            <a:r>
              <a:rPr lang="en-US" dirty="0">
                <a:latin typeface="Times New Roman" pitchFamily="18" charset="0"/>
                <a:cs typeface="Times New Roman" pitchFamily="18" charset="0"/>
              </a:rPr>
              <a:t>Where V* is the potential minimum volume and it is computed as:</a:t>
            </a:r>
          </a:p>
          <a:p>
            <a:pPr marL="0" indent="0">
              <a:buNone/>
            </a:pPr>
            <a:r>
              <a:rPr lang="en-US" dirty="0">
                <a:latin typeface="Times New Roman" pitchFamily="18" charset="0"/>
                <a:cs typeface="Times New Roman" pitchFamily="18" charset="0"/>
              </a:rPr>
              <a:t>V* = (2+n2*)log2(2+n2*)</a:t>
            </a:r>
          </a:p>
          <a:p>
            <a:pPr marL="0" indent="0">
              <a:buNone/>
            </a:pPr>
            <a:r>
              <a:rPr lang="en-US" dirty="0">
                <a:latin typeface="Times New Roman" pitchFamily="18" charset="0"/>
                <a:cs typeface="Times New Roman" pitchFamily="18" charset="0"/>
              </a:rPr>
              <a:t>Where n2* is the number of unique input-output variable.</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757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marL="0" indent="0" algn="just">
              <a:buNone/>
            </a:pPr>
            <a:r>
              <a:rPr lang="en-US" b="1" dirty="0">
                <a:latin typeface="Times New Roman" pitchFamily="18" charset="0"/>
                <a:cs typeface="Times New Roman" pitchFamily="18" charset="0"/>
              </a:rPr>
              <a:t>5. Program Difficulty</a:t>
            </a:r>
            <a:endParaRPr lang="en-US"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The difficulty level or error-proneness (D) of the program is proportional to the number of the unique operator in the program. </a:t>
            </a:r>
          </a:p>
          <a:p>
            <a:pPr marL="0" indent="0" algn="just">
              <a:buNone/>
            </a:pPr>
            <a:r>
              <a:rPr lang="en-US" dirty="0">
                <a:latin typeface="Times New Roman" pitchFamily="18" charset="0"/>
                <a:cs typeface="Times New Roman" pitchFamily="18" charset="0"/>
              </a:rPr>
              <a:t>        		D= (n1/2) * (N2/n2)</a:t>
            </a:r>
          </a:p>
          <a:p>
            <a:pPr marL="0" indent="0" algn="just">
              <a:buNone/>
            </a:pPr>
            <a:r>
              <a:rPr lang="en-US" b="1" dirty="0">
                <a:latin typeface="Times New Roman" pitchFamily="18" charset="0"/>
                <a:cs typeface="Times New Roman" pitchFamily="18" charset="0"/>
              </a:rPr>
              <a:t>6. Programming Effort (E)</a:t>
            </a:r>
            <a:endParaRPr lang="en-US"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The unit of measurement of E is elementary mental discriminations.</a:t>
            </a:r>
          </a:p>
          <a:p>
            <a:pPr marL="0" indent="0" algn="just">
              <a:buNone/>
            </a:pPr>
            <a:r>
              <a:rPr lang="en-US" dirty="0">
                <a:latin typeface="Times New Roman" pitchFamily="18" charset="0"/>
                <a:cs typeface="Times New Roman" pitchFamily="18" charset="0"/>
              </a:rPr>
              <a:t>      		E=V/L=D*V</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652878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88640"/>
            <a:ext cx="7772400" cy="6264696"/>
          </a:xfrm>
        </p:spPr>
        <p:txBody>
          <a:bodyPr>
            <a:normAutofit/>
          </a:bodyPr>
          <a:lstStyle/>
          <a:p>
            <a:pPr marL="0" indent="0" algn="just">
              <a:buNone/>
            </a:pPr>
            <a:r>
              <a:rPr lang="en-US" b="1" dirty="0">
                <a:latin typeface="Times New Roman" pitchFamily="18" charset="0"/>
                <a:cs typeface="Times New Roman" pitchFamily="18" charset="0"/>
              </a:rPr>
              <a:t>7. Language Level</a:t>
            </a:r>
            <a:r>
              <a:rPr lang="en-US" dirty="0">
                <a:latin typeface="Times New Roman" pitchFamily="18" charset="0"/>
                <a:cs typeface="Times New Roman" pitchFamily="18" charset="0"/>
              </a:rPr>
              <a:t> - Shows the algorithm implementation program language level. The same algorithm demands additional effort if it is written in a low-level program language. For example, it is easier to program in Pascal than in Assembler.</a:t>
            </a:r>
          </a:p>
          <a:p>
            <a:pPr marL="0" indent="0">
              <a:buNone/>
            </a:pPr>
            <a:r>
              <a:rPr lang="en-US" dirty="0">
                <a:latin typeface="Times New Roman" pitchFamily="18" charset="0"/>
                <a:cs typeface="Times New Roman" pitchFamily="18" charset="0"/>
              </a:rPr>
              <a:t>		 L' = V / D / 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lambda = L * V* = L</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 V</a:t>
            </a:r>
          </a:p>
          <a:p>
            <a:pPr marL="0" indent="0">
              <a:buNone/>
            </a:pPr>
            <a:endParaRPr lang="en-US" dirty="0">
              <a:latin typeface="Times New Roman" pitchFamily="18" charset="0"/>
              <a:cs typeface="Times New Roman" pitchFamily="18" charset="0"/>
            </a:endParaRPr>
          </a:p>
          <a:p>
            <a:pPr marL="0" indent="0" algn="just">
              <a:buNone/>
            </a:pPr>
            <a:r>
              <a:rPr lang="en-US" b="1" dirty="0">
                <a:latin typeface="Times New Roman" pitchFamily="18" charset="0"/>
                <a:cs typeface="Times New Roman" pitchFamily="18" charset="0"/>
              </a:rPr>
              <a:t>8. Intelligence Content –</a:t>
            </a:r>
            <a:r>
              <a:rPr lang="en-US" dirty="0">
                <a:latin typeface="Times New Roman" pitchFamily="18" charset="0"/>
                <a:cs typeface="Times New Roman" pitchFamily="18" charset="0"/>
              </a:rPr>
              <a:t> Determines the amount of intelligence presented (stated) in the program This parameter provides a measurement of program complexity, independently of the program language in which it was implemented.</a:t>
            </a:r>
          </a:p>
          <a:p>
            <a:pPr marL="0" indent="0" algn="just">
              <a:buNone/>
            </a:pPr>
            <a:r>
              <a:rPr lang="en-US" dirty="0">
                <a:latin typeface="Times New Roman" pitchFamily="18" charset="0"/>
                <a:cs typeface="Times New Roman" pitchFamily="18" charset="0"/>
              </a:rPr>
              <a:t>I = V / 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035338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a:solidFill>
                  <a:schemeClr val="tx1"/>
                </a:solidFill>
                <a:latin typeface="Arial" charset="0"/>
                <a:cs typeface="Arial" charset="0"/>
              </a:rPr>
              <a:t>Language levels</a:t>
            </a:r>
            <a:endParaRPr lang="en-IN"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061373049"/>
              </p:ext>
            </p:extLst>
          </p:nvPr>
        </p:nvGraphicFramePr>
        <p:xfrm>
          <a:off x="855407" y="1687232"/>
          <a:ext cx="7772400" cy="3657600"/>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0">
                <a:tc>
                  <a:txBody>
                    <a:bodyPr/>
                    <a:lstStyle/>
                    <a:p>
                      <a:r>
                        <a:rPr lang="en-IN" sz="2400" dirty="0">
                          <a:latin typeface="Times New Roman" pitchFamily="18" charset="0"/>
                          <a:cs typeface="Times New Roman" pitchFamily="18" charset="0"/>
                        </a:rPr>
                        <a:t>Language</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Language level </a:t>
                      </a:r>
                      <a:r>
                        <a:rPr lang="el-GR" sz="2400">
                          <a:latin typeface="Times New Roman" pitchFamily="18" charset="0"/>
                          <a:cs typeface="Times New Roman" pitchFamily="18" charset="0"/>
                        </a:rPr>
                        <a:t>λ</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Variance </a:t>
                      </a:r>
                      <a:r>
                        <a:rPr lang="el-GR" sz="2400">
                          <a:latin typeface="Times New Roman" pitchFamily="18" charset="0"/>
                          <a:cs typeface="Times New Roman" pitchFamily="18" charset="0"/>
                        </a:rPr>
                        <a:t>σ</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sz="2400" dirty="0">
                          <a:latin typeface="Times New Roman" pitchFamily="18" charset="0"/>
                          <a:cs typeface="Times New Roman" pitchFamily="18" charset="0"/>
                        </a:rPr>
                        <a:t>PL/1</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1.53</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0.92</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sz="2400" dirty="0">
                          <a:latin typeface="Times New Roman" pitchFamily="18" charset="0"/>
                          <a:cs typeface="Times New Roman" pitchFamily="18" charset="0"/>
                        </a:rPr>
                        <a:t>ALGOL</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1.21</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0.74</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sz="2400">
                          <a:latin typeface="Times New Roman" pitchFamily="18" charset="0"/>
                          <a:cs typeface="Times New Roman" pitchFamily="18" charset="0"/>
                        </a:rPr>
                        <a:t>FORTRAN</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1.14</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0.81</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sz="2400">
                          <a:latin typeface="Times New Roman" pitchFamily="18" charset="0"/>
                          <a:cs typeface="Times New Roman" pitchFamily="18" charset="0"/>
                        </a:rPr>
                        <a:t>CDC Assembly</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0.88</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0.42</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IN" sz="2400">
                          <a:latin typeface="Times New Roman" pitchFamily="18" charset="0"/>
                          <a:cs typeface="Times New Roman" pitchFamily="18" charset="0"/>
                        </a:rPr>
                        <a:t>PASCAL</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2.54</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a:t>
                      </a:r>
                    </a:p>
                  </a:txBody>
                  <a:tcPr anchor="ctr">
                    <a:lnL>
                      <a:noFill/>
                    </a:lnL>
                    <a:lnR>
                      <a:noFill/>
                    </a:lnR>
                    <a:lnT>
                      <a:noFill/>
                    </a:lnT>
                    <a:lnB>
                      <a:noFill/>
                    </a:lnB>
                  </a:tcPr>
                </a:tc>
                <a:extLst>
                  <a:ext uri="{0D108BD9-81ED-4DB2-BD59-A6C34878D82A}">
                    <a16:rowId xmlns:a16="http://schemas.microsoft.com/office/drawing/2014/main" val="10005"/>
                  </a:ext>
                </a:extLst>
              </a:tr>
              <a:tr h="0">
                <a:tc>
                  <a:txBody>
                    <a:bodyPr/>
                    <a:lstStyle/>
                    <a:p>
                      <a:r>
                        <a:rPr lang="en-IN" sz="2400">
                          <a:latin typeface="Times New Roman" pitchFamily="18" charset="0"/>
                          <a:cs typeface="Times New Roman" pitchFamily="18" charset="0"/>
                        </a:rPr>
                        <a:t>APL</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2.42</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a:t>
                      </a:r>
                    </a:p>
                  </a:txBody>
                  <a:tcPr anchor="ctr">
                    <a:lnL>
                      <a:noFill/>
                    </a:lnL>
                    <a:lnR>
                      <a:noFill/>
                    </a:lnR>
                    <a:lnT>
                      <a:noFill/>
                    </a:lnT>
                    <a:lnB>
                      <a:noFill/>
                    </a:lnB>
                  </a:tcPr>
                </a:tc>
                <a:extLst>
                  <a:ext uri="{0D108BD9-81ED-4DB2-BD59-A6C34878D82A}">
                    <a16:rowId xmlns:a16="http://schemas.microsoft.com/office/drawing/2014/main" val="10006"/>
                  </a:ext>
                </a:extLst>
              </a:tr>
              <a:tr h="0">
                <a:tc>
                  <a:txBody>
                    <a:bodyPr/>
                    <a:lstStyle/>
                    <a:p>
                      <a:r>
                        <a:rPr lang="en-IN" sz="2400">
                          <a:latin typeface="Times New Roman" pitchFamily="18" charset="0"/>
                          <a:cs typeface="Times New Roman" pitchFamily="18" charset="0"/>
                        </a:rPr>
                        <a:t>C</a:t>
                      </a:r>
                    </a:p>
                  </a:txBody>
                  <a:tcPr anchor="ctr">
                    <a:lnL>
                      <a:noFill/>
                    </a:lnL>
                    <a:lnR>
                      <a:noFill/>
                    </a:lnR>
                    <a:lnT>
                      <a:noFill/>
                    </a:lnT>
                    <a:lnB>
                      <a:noFill/>
                    </a:lnB>
                  </a:tcPr>
                </a:tc>
                <a:tc>
                  <a:txBody>
                    <a:bodyPr/>
                    <a:lstStyle/>
                    <a:p>
                      <a:r>
                        <a:rPr lang="en-IN" sz="2400">
                          <a:latin typeface="Times New Roman" pitchFamily="18" charset="0"/>
                          <a:cs typeface="Times New Roman" pitchFamily="18" charset="0"/>
                        </a:rPr>
                        <a:t>0.857</a:t>
                      </a:r>
                    </a:p>
                  </a:txBody>
                  <a:tcPr anchor="ctr">
                    <a:lnL>
                      <a:noFill/>
                    </a:lnL>
                    <a:lnR>
                      <a:noFill/>
                    </a:lnR>
                    <a:lnT>
                      <a:noFill/>
                    </a:lnT>
                    <a:lnB>
                      <a:noFill/>
                    </a:lnB>
                  </a:tcPr>
                </a:tc>
                <a:tc>
                  <a:txBody>
                    <a:bodyPr/>
                    <a:lstStyle/>
                    <a:p>
                      <a:r>
                        <a:rPr lang="en-IN" sz="2400" dirty="0">
                          <a:latin typeface="Times New Roman" pitchFamily="18" charset="0"/>
                          <a:cs typeface="Times New Roman" pitchFamily="18" charset="0"/>
                        </a:rPr>
                        <a:t>0.445</a:t>
                      </a:r>
                    </a:p>
                  </a:txBody>
                  <a:tcPr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61351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3568" y="116632"/>
            <a:ext cx="8003232" cy="5904656"/>
          </a:xfrm>
        </p:spPr>
        <p:txBody>
          <a:bodyPr>
            <a:noAutofit/>
          </a:bodyPr>
          <a:lstStyle/>
          <a:p>
            <a:pPr algn="just"/>
            <a:r>
              <a:rPr lang="en-US" sz="2300" b="1" dirty="0">
                <a:latin typeface="Times New Roman" pitchFamily="18" charset="0"/>
                <a:cs typeface="Times New Roman" pitchFamily="18" charset="0"/>
              </a:rPr>
              <a:t>Programming Time –</a:t>
            </a:r>
            <a:r>
              <a:rPr lang="en-US" sz="2300" dirty="0">
                <a:latin typeface="Times New Roman" pitchFamily="18" charset="0"/>
                <a:cs typeface="Times New Roman" pitchFamily="18" charset="0"/>
              </a:rPr>
              <a:t> Shows time (in minutes) needed to translate the existing algorithm into implementation in the specified program language.</a:t>
            </a:r>
          </a:p>
          <a:p>
            <a:pPr marL="0" indent="0" algn="just">
              <a:buNone/>
            </a:pPr>
            <a:r>
              <a:rPr lang="en-US" sz="2300" dirty="0">
                <a:latin typeface="Times New Roman" pitchFamily="18" charset="0"/>
                <a:cs typeface="Times New Roman" pitchFamily="18" charset="0"/>
              </a:rPr>
              <a:t>			T = E / (f * S) </a:t>
            </a:r>
          </a:p>
          <a:p>
            <a:pPr algn="just"/>
            <a:r>
              <a:rPr lang="en-US" sz="2300" dirty="0">
                <a:latin typeface="Times New Roman" pitchFamily="18" charset="0"/>
                <a:cs typeface="Times New Roman" pitchFamily="18" charset="0"/>
              </a:rPr>
              <a:t>The concept of the processing rate of the human brain, developed by the psychologist John Stroud, is also used.</a:t>
            </a:r>
          </a:p>
          <a:p>
            <a:pPr algn="just"/>
            <a:r>
              <a:rPr lang="en-US" sz="2300" dirty="0" err="1">
                <a:latin typeface="Times New Roman" pitchFamily="18" charset="0"/>
                <a:cs typeface="Times New Roman" pitchFamily="18" charset="0"/>
              </a:rPr>
              <a:t>Stoud</a:t>
            </a:r>
            <a:r>
              <a:rPr lang="en-US" sz="2300" dirty="0">
                <a:latin typeface="Times New Roman" pitchFamily="18" charset="0"/>
                <a:cs typeface="Times New Roman" pitchFamily="18" charset="0"/>
              </a:rPr>
              <a:t> defined a moment as the time required by the human brain requires to carry out the most elementary decision. </a:t>
            </a:r>
          </a:p>
          <a:p>
            <a:pPr algn="just"/>
            <a:r>
              <a:rPr lang="en-US" sz="2300" dirty="0">
                <a:latin typeface="Times New Roman" pitchFamily="18" charset="0"/>
                <a:cs typeface="Times New Roman" pitchFamily="18" charset="0"/>
              </a:rPr>
              <a:t>The </a:t>
            </a:r>
            <a:r>
              <a:rPr lang="en-US" sz="2300" dirty="0" err="1">
                <a:latin typeface="Times New Roman" pitchFamily="18" charset="0"/>
                <a:cs typeface="Times New Roman" pitchFamily="18" charset="0"/>
              </a:rPr>
              <a:t>Stoud</a:t>
            </a:r>
            <a:r>
              <a:rPr lang="en-US" sz="2300" dirty="0">
                <a:latin typeface="Times New Roman" pitchFamily="18" charset="0"/>
                <a:cs typeface="Times New Roman" pitchFamily="18" charset="0"/>
              </a:rPr>
              <a:t> number S is therefore </a:t>
            </a:r>
            <a:r>
              <a:rPr lang="en-US" sz="2300" dirty="0" err="1">
                <a:latin typeface="Times New Roman" pitchFamily="18" charset="0"/>
                <a:cs typeface="Times New Roman" pitchFamily="18" charset="0"/>
              </a:rPr>
              <a:t>Stoud’s</a:t>
            </a:r>
            <a:r>
              <a:rPr lang="en-US" sz="2300" dirty="0">
                <a:latin typeface="Times New Roman" pitchFamily="18" charset="0"/>
                <a:cs typeface="Times New Roman" pitchFamily="18" charset="0"/>
              </a:rPr>
              <a:t> moments per second with:</a:t>
            </a:r>
          </a:p>
          <a:p>
            <a:pPr marL="0" indent="0" algn="just">
              <a:buNone/>
            </a:pPr>
            <a:r>
              <a:rPr lang="en-US" sz="2300" dirty="0">
                <a:latin typeface="Times New Roman" pitchFamily="18" charset="0"/>
                <a:cs typeface="Times New Roman" pitchFamily="18" charset="0"/>
              </a:rPr>
              <a:t>			5 &lt;= S &lt;= 20. </a:t>
            </a:r>
          </a:p>
          <a:p>
            <a:pPr algn="just"/>
            <a:r>
              <a:rPr lang="en-US" sz="2300" dirty="0">
                <a:latin typeface="Times New Roman" pitchFamily="18" charset="0"/>
                <a:cs typeface="Times New Roman" pitchFamily="18" charset="0"/>
              </a:rPr>
              <a:t>Halstead uses 18. </a:t>
            </a:r>
          </a:p>
          <a:p>
            <a:pPr algn="just"/>
            <a:r>
              <a:rPr lang="en-US" sz="2300" dirty="0">
                <a:latin typeface="Times New Roman" pitchFamily="18" charset="0"/>
                <a:cs typeface="Times New Roman" pitchFamily="18" charset="0"/>
              </a:rPr>
              <a:t>The value of S has been empirically developed from psychological reasoning, and its recommended value for programming applications is 18.</a:t>
            </a:r>
          </a:p>
          <a:p>
            <a:pPr algn="just"/>
            <a:r>
              <a:rPr lang="en-US" sz="2300" dirty="0">
                <a:latin typeface="Times New Roman" pitchFamily="18" charset="0"/>
                <a:cs typeface="Times New Roman" pitchFamily="18" charset="0"/>
              </a:rPr>
              <a:t>Stroud number S = 18 moments / second</a:t>
            </a:r>
          </a:p>
          <a:p>
            <a:pPr algn="just"/>
            <a:r>
              <a:rPr lang="en-US" sz="2300" dirty="0">
                <a:latin typeface="Times New Roman" pitchFamily="18" charset="0"/>
                <a:cs typeface="Times New Roman" pitchFamily="18" charset="0"/>
              </a:rPr>
              <a:t>seconds-to-minutes factor f = 60 </a:t>
            </a:r>
          </a:p>
        </p:txBody>
      </p:sp>
    </p:spTree>
    <p:extLst>
      <p:ext uri="{BB962C8B-B14F-4D97-AF65-F5344CB8AC3E}">
        <p14:creationId xmlns:p14="http://schemas.microsoft.com/office/powerpoint/2010/main" val="2019416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Counting rules for C language </a:t>
            </a:r>
            <a:endParaRPr lang="en-IN" dirty="0"/>
          </a:p>
        </p:txBody>
      </p:sp>
      <p:sp>
        <p:nvSpPr>
          <p:cNvPr id="3" name="Content Placeholder 2"/>
          <p:cNvSpPr>
            <a:spLocks noGrp="1"/>
          </p:cNvSpPr>
          <p:nvPr>
            <p:ph sz="quarter" idx="1"/>
          </p:nvPr>
        </p:nvSpPr>
        <p:spPr>
          <a:xfrm>
            <a:off x="914400" y="1447800"/>
            <a:ext cx="7772400" cy="5005536"/>
          </a:xfrm>
        </p:spPr>
        <p:txBody>
          <a:bodyPr>
            <a:normAutofit/>
          </a:bodyPr>
          <a:lstStyle/>
          <a:p>
            <a:pPr algn="just"/>
            <a:r>
              <a:rPr lang="en-US" dirty="0">
                <a:latin typeface="Times New Roman" pitchFamily="18" charset="0"/>
                <a:cs typeface="Times New Roman" pitchFamily="18" charset="0"/>
              </a:rPr>
              <a:t>Comments are not considered.</a:t>
            </a:r>
          </a:p>
          <a:p>
            <a:pPr algn="just"/>
            <a:r>
              <a:rPr lang="en-US" dirty="0">
                <a:latin typeface="Times New Roman" pitchFamily="18" charset="0"/>
                <a:cs typeface="Times New Roman" pitchFamily="18" charset="0"/>
              </a:rPr>
              <a:t>The identifier and function declarations are not considered</a:t>
            </a:r>
          </a:p>
          <a:p>
            <a:pPr algn="just"/>
            <a:r>
              <a:rPr lang="en-US" dirty="0">
                <a:latin typeface="Times New Roman" pitchFamily="18" charset="0"/>
                <a:cs typeface="Times New Roman" pitchFamily="18" charset="0"/>
              </a:rPr>
              <a:t>All the variables and constants are considered operands.</a:t>
            </a:r>
          </a:p>
          <a:p>
            <a:pPr algn="just"/>
            <a:r>
              <a:rPr lang="en-US" dirty="0">
                <a:latin typeface="Times New Roman" pitchFamily="18" charset="0"/>
                <a:cs typeface="Times New Roman" pitchFamily="18" charset="0"/>
              </a:rPr>
              <a:t>Global variables used in different modules of the same program are counted as multiple occurrences of the same variable.</a:t>
            </a:r>
          </a:p>
          <a:p>
            <a:pPr algn="just"/>
            <a:r>
              <a:rPr lang="en-US" dirty="0">
                <a:latin typeface="Times New Roman" pitchFamily="18" charset="0"/>
                <a:cs typeface="Times New Roman" pitchFamily="18" charset="0"/>
              </a:rPr>
              <a:t>Local variables with the same name in different functions are counted as unique operands.</a:t>
            </a:r>
          </a:p>
          <a:p>
            <a:pPr algn="just"/>
            <a:r>
              <a:rPr lang="en-US" dirty="0">
                <a:latin typeface="Times New Roman" pitchFamily="18" charset="0"/>
                <a:cs typeface="Times New Roman" pitchFamily="18" charset="0"/>
              </a:rPr>
              <a:t>Functions calls are considered as operators.</a:t>
            </a:r>
          </a:p>
        </p:txBody>
      </p:sp>
    </p:spTree>
    <p:extLst>
      <p:ext uri="{BB962C8B-B14F-4D97-AF65-F5344CB8AC3E}">
        <p14:creationId xmlns:p14="http://schemas.microsoft.com/office/powerpoint/2010/main" val="3465169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3568" y="332656"/>
            <a:ext cx="8003232" cy="6048672"/>
          </a:xfrm>
        </p:spPr>
        <p:txBody>
          <a:bodyPr>
            <a:normAutofit/>
          </a:bodyPr>
          <a:lstStyle/>
          <a:p>
            <a:pPr algn="just"/>
            <a:r>
              <a:rPr lang="en-US" dirty="0">
                <a:latin typeface="Times New Roman" pitchFamily="18" charset="0"/>
                <a:cs typeface="Times New Roman" pitchFamily="18" charset="0"/>
              </a:rPr>
              <a:t>All looping statements e.g., do {...} while ( ), while ( ) {...}, for ( ) {...}, all control statements e.g., if ( ) {...}, if ( ) {...} else {...}, etc. are considered as operators.</a:t>
            </a:r>
          </a:p>
          <a:p>
            <a:pPr algn="just"/>
            <a:r>
              <a:rPr lang="en-US" dirty="0">
                <a:latin typeface="Times New Roman" pitchFamily="18" charset="0"/>
                <a:cs typeface="Times New Roman" pitchFamily="18" charset="0"/>
              </a:rPr>
              <a:t>In control construct switch ( ) {case:...}, switch as well as all the case statements are considered as operators.</a:t>
            </a:r>
          </a:p>
          <a:p>
            <a:pPr algn="just"/>
            <a:r>
              <a:rPr lang="en-US" dirty="0">
                <a:latin typeface="Times New Roman" pitchFamily="18" charset="0"/>
                <a:cs typeface="Times New Roman" pitchFamily="18" charset="0"/>
              </a:rPr>
              <a:t>The reserve words like return, default, continue, break, </a:t>
            </a:r>
            <a:r>
              <a:rPr lang="en-US" dirty="0" err="1">
                <a:latin typeface="Times New Roman" pitchFamily="18" charset="0"/>
                <a:cs typeface="Times New Roman" pitchFamily="18" charset="0"/>
              </a:rPr>
              <a:t>sizeof</a:t>
            </a:r>
            <a:r>
              <a:rPr lang="en-US" dirty="0">
                <a:latin typeface="Times New Roman" pitchFamily="18" charset="0"/>
                <a:cs typeface="Times New Roman" pitchFamily="18" charset="0"/>
              </a:rPr>
              <a:t>, etc., are considered as operators.</a:t>
            </a:r>
          </a:p>
          <a:p>
            <a:pPr algn="just"/>
            <a:r>
              <a:rPr lang="en-US" dirty="0">
                <a:latin typeface="Times New Roman" pitchFamily="18" charset="0"/>
                <a:cs typeface="Times New Roman" pitchFamily="18" charset="0"/>
              </a:rPr>
              <a:t>All the brackets, commas, and terminators are considered as operators.</a:t>
            </a:r>
          </a:p>
          <a:p>
            <a:pPr algn="just"/>
            <a:r>
              <a:rPr lang="en-US" dirty="0">
                <a:latin typeface="Times New Roman" pitchFamily="18" charset="0"/>
                <a:cs typeface="Times New Roman" pitchFamily="18" charset="0"/>
              </a:rPr>
              <a:t>GOTO is counted as an operator, and the label is counted as an operand.</a:t>
            </a:r>
          </a:p>
          <a:p>
            <a:pPr algn="just"/>
            <a:r>
              <a:rPr lang="en-US" dirty="0">
                <a:latin typeface="Times New Roman" pitchFamily="18" charset="0"/>
                <a:cs typeface="Times New Roman" pitchFamily="18" charset="0"/>
              </a:rPr>
              <a:t>The unary and binary occurrence of "+" and "-" are dealt with separately. Similarly "*" (multiplication operator) are dealt separately.</a:t>
            </a:r>
          </a:p>
        </p:txBody>
      </p:sp>
    </p:spTree>
    <p:extLst>
      <p:ext uri="{BB962C8B-B14F-4D97-AF65-F5344CB8AC3E}">
        <p14:creationId xmlns:p14="http://schemas.microsoft.com/office/powerpoint/2010/main" val="656202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algn="just"/>
            <a:r>
              <a:rPr lang="en-US" dirty="0">
                <a:latin typeface="Times New Roman" pitchFamily="18" charset="0"/>
                <a:cs typeface="Times New Roman" pitchFamily="18" charset="0"/>
              </a:rPr>
              <a:t>In the array variables such as "array-name [index]" "array-name" and "index" are considered as operands and [ ] is considered an operator.</a:t>
            </a:r>
          </a:p>
          <a:p>
            <a:pPr algn="just"/>
            <a:r>
              <a:rPr lang="en-US" dirty="0">
                <a:latin typeface="Times New Roman" pitchFamily="18" charset="0"/>
                <a:cs typeface="Times New Roman" pitchFamily="18" charset="0"/>
              </a:rPr>
              <a:t>In the structure variables such as "</a:t>
            </a: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-name, member-name" or "</a:t>
            </a: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-name -&gt; member-name," </a:t>
            </a:r>
            <a:r>
              <a:rPr lang="en-US" dirty="0" err="1">
                <a:latin typeface="Times New Roman" pitchFamily="18" charset="0"/>
                <a:cs typeface="Times New Roman" pitchFamily="18" charset="0"/>
              </a:rPr>
              <a:t>struct</a:t>
            </a:r>
            <a:r>
              <a:rPr lang="en-US" dirty="0">
                <a:latin typeface="Times New Roman" pitchFamily="18" charset="0"/>
                <a:cs typeface="Times New Roman" pitchFamily="18" charset="0"/>
              </a:rPr>
              <a:t>-name, member-name are considered as operands and '.', '-&gt;' are taken as operators. Some names of member elements in different structure variables are counted as unique operands.</a:t>
            </a:r>
          </a:p>
          <a:p>
            <a:pPr algn="just"/>
            <a:r>
              <a:rPr lang="en-US" dirty="0">
                <a:latin typeface="Times New Roman" pitchFamily="18" charset="0"/>
                <a:cs typeface="Times New Roman" pitchFamily="18" charset="0"/>
              </a:rPr>
              <a:t>All the hash directive is ignored.</a:t>
            </a:r>
            <a:endParaRPr lang="en-IN"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2496855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04664"/>
            <a:ext cx="7772400" cy="5615136"/>
          </a:xfrm>
        </p:spPr>
        <p:txBody>
          <a:bodyPr>
            <a:normAutofit/>
          </a:bodyPr>
          <a:lstStyle/>
          <a:p>
            <a:pPr marL="0" indent="0">
              <a:buNone/>
            </a:pPr>
            <a:r>
              <a:rPr lang="en-US" b="1" dirty="0"/>
              <a:t>Example –</a:t>
            </a:r>
            <a:r>
              <a:rPr lang="en-US" dirty="0"/>
              <a:t> List out the operators and operands and also calculate the values of software science measures.</a:t>
            </a:r>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190624"/>
            <a:ext cx="7848872" cy="5478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11534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3961925456"/>
              </p:ext>
            </p:extLst>
          </p:nvPr>
        </p:nvGraphicFramePr>
        <p:xfrm>
          <a:off x="827584" y="260648"/>
          <a:ext cx="7584356" cy="6307840"/>
        </p:xfrm>
        <a:graphic>
          <a:graphicData uri="http://schemas.openxmlformats.org/drawingml/2006/table">
            <a:tbl>
              <a:tblPr/>
              <a:tblGrid>
                <a:gridCol w="1896089">
                  <a:extLst>
                    <a:ext uri="{9D8B030D-6E8A-4147-A177-3AD203B41FA5}">
                      <a16:colId xmlns:a16="http://schemas.microsoft.com/office/drawing/2014/main" val="20000"/>
                    </a:ext>
                  </a:extLst>
                </a:gridCol>
                <a:gridCol w="1896089">
                  <a:extLst>
                    <a:ext uri="{9D8B030D-6E8A-4147-A177-3AD203B41FA5}">
                      <a16:colId xmlns:a16="http://schemas.microsoft.com/office/drawing/2014/main" val="20001"/>
                    </a:ext>
                  </a:extLst>
                </a:gridCol>
                <a:gridCol w="1896089">
                  <a:extLst>
                    <a:ext uri="{9D8B030D-6E8A-4147-A177-3AD203B41FA5}">
                      <a16:colId xmlns:a16="http://schemas.microsoft.com/office/drawing/2014/main" val="20002"/>
                    </a:ext>
                  </a:extLst>
                </a:gridCol>
                <a:gridCol w="1896089">
                  <a:extLst>
                    <a:ext uri="{9D8B030D-6E8A-4147-A177-3AD203B41FA5}">
                      <a16:colId xmlns:a16="http://schemas.microsoft.com/office/drawing/2014/main" val="20003"/>
                    </a:ext>
                  </a:extLst>
                </a:gridCol>
              </a:tblGrid>
              <a:tr h="394240">
                <a:tc>
                  <a:txBody>
                    <a:bodyPr/>
                    <a:lstStyle/>
                    <a:p>
                      <a:r>
                        <a:rPr lang="en-IN" sz="2000">
                          <a:latin typeface="Times New Roman" pitchFamily="18" charset="0"/>
                          <a:cs typeface="Times New Roman" pitchFamily="18" charset="0"/>
                        </a:rPr>
                        <a:t>operators</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occurrences</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operands</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occurrences</a:t>
                      </a:r>
                    </a:p>
                  </a:txBody>
                  <a:tcPr marL="71437" marR="71437" marT="35719" marB="35719" anchor="ctr">
                    <a:lnL>
                      <a:noFill/>
                    </a:lnL>
                    <a:lnR>
                      <a:noFill/>
                    </a:lnR>
                    <a:lnT>
                      <a:noFill/>
                    </a:lnT>
                    <a:lnB>
                      <a:noFill/>
                    </a:lnB>
                  </a:tcPr>
                </a:tc>
                <a:extLst>
                  <a:ext uri="{0D108BD9-81ED-4DB2-BD59-A6C34878D82A}">
                    <a16:rowId xmlns:a16="http://schemas.microsoft.com/office/drawing/2014/main" val="10000"/>
                  </a:ext>
                </a:extLst>
              </a:tr>
              <a:tr h="394240">
                <a:tc>
                  <a:txBody>
                    <a:bodyPr/>
                    <a:lstStyle/>
                    <a:p>
                      <a:r>
                        <a:rPr lang="en-IN" sz="2000">
                          <a:latin typeface="Times New Roman" pitchFamily="18" charset="0"/>
                          <a:cs typeface="Times New Roman" pitchFamily="18" charset="0"/>
                        </a:rPr>
                        <a:t>int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4</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sort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1</a:t>
                      </a:r>
                    </a:p>
                  </a:txBody>
                  <a:tcPr marL="71437" marR="71437" marT="35719" marB="35719" anchor="ctr">
                    <a:lnL>
                      <a:noFill/>
                    </a:lnL>
                    <a:lnR>
                      <a:noFill/>
                    </a:lnR>
                    <a:lnT>
                      <a:noFill/>
                    </a:lnT>
                    <a:lnB>
                      <a:noFill/>
                    </a:lnB>
                  </a:tcPr>
                </a:tc>
                <a:extLst>
                  <a:ext uri="{0D108BD9-81ED-4DB2-BD59-A6C34878D82A}">
                    <a16:rowId xmlns:a16="http://schemas.microsoft.com/office/drawing/2014/main" val="10001"/>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5</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x</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7</a:t>
                      </a:r>
                    </a:p>
                  </a:txBody>
                  <a:tcPr marL="71437" marR="71437" marT="35719" marB="35719" anchor="ctr">
                    <a:lnL>
                      <a:noFill/>
                    </a:lnL>
                    <a:lnR>
                      <a:noFill/>
                    </a:lnR>
                    <a:lnT>
                      <a:noFill/>
                    </a:lnT>
                    <a:lnB>
                      <a:noFill/>
                    </a:lnB>
                  </a:tcPr>
                </a:tc>
                <a:extLst>
                  <a:ext uri="{0D108BD9-81ED-4DB2-BD59-A6C34878D82A}">
                    <a16:rowId xmlns:a16="http://schemas.microsoft.com/office/drawing/2014/main" val="10002"/>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4</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n</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3</a:t>
                      </a:r>
                    </a:p>
                  </a:txBody>
                  <a:tcPr marL="71437" marR="71437" marT="35719" marB="35719" anchor="ctr">
                    <a:lnL>
                      <a:noFill/>
                    </a:lnL>
                    <a:lnR>
                      <a:noFill/>
                    </a:lnR>
                    <a:lnT>
                      <a:noFill/>
                    </a:lnT>
                    <a:lnB>
                      <a:noFill/>
                    </a:lnB>
                  </a:tcPr>
                </a:tc>
                <a:extLst>
                  <a:ext uri="{0D108BD9-81ED-4DB2-BD59-A6C34878D82A}">
                    <a16:rowId xmlns:a16="http://schemas.microsoft.com/office/drawing/2014/main" val="10003"/>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7</a:t>
                      </a:r>
                    </a:p>
                  </a:txBody>
                  <a:tcPr marL="71437" marR="71437" marT="35719" marB="35719" anchor="ctr">
                    <a:lnL>
                      <a:noFill/>
                    </a:lnL>
                    <a:lnR>
                      <a:noFill/>
                    </a:lnR>
                    <a:lnT>
                      <a:noFill/>
                    </a:lnT>
                    <a:lnB>
                      <a:noFill/>
                    </a:lnB>
                  </a:tcPr>
                </a:tc>
                <a:tc>
                  <a:txBody>
                    <a:bodyPr/>
                    <a:lstStyle/>
                    <a:p>
                      <a:r>
                        <a:rPr lang="en-IN" sz="2000" dirty="0">
                          <a:latin typeface="Times New Roman" pitchFamily="18" charset="0"/>
                          <a:cs typeface="Times New Roman" pitchFamily="18" charset="0"/>
                        </a:rPr>
                        <a:t>i</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8</a:t>
                      </a:r>
                    </a:p>
                  </a:txBody>
                  <a:tcPr marL="71437" marR="71437" marT="35719" marB="35719" anchor="ctr">
                    <a:lnL>
                      <a:noFill/>
                    </a:lnL>
                    <a:lnR>
                      <a:noFill/>
                    </a:lnR>
                    <a:lnT>
                      <a:noFill/>
                    </a:lnT>
                    <a:lnB>
                      <a:noFill/>
                    </a:lnB>
                  </a:tcPr>
                </a:tc>
                <a:extLst>
                  <a:ext uri="{0D108BD9-81ED-4DB2-BD59-A6C34878D82A}">
                    <a16:rowId xmlns:a16="http://schemas.microsoft.com/office/drawing/2014/main" val="10004"/>
                  </a:ext>
                </a:extLst>
              </a:tr>
              <a:tr h="394240">
                <a:tc>
                  <a:txBody>
                    <a:bodyPr/>
                    <a:lstStyle/>
                    <a:p>
                      <a:r>
                        <a:rPr lang="en-IN" sz="2000">
                          <a:latin typeface="Times New Roman" pitchFamily="18" charset="0"/>
                          <a:cs typeface="Times New Roman" pitchFamily="18" charset="0"/>
                        </a:rPr>
                        <a:t>if</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j</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7</a:t>
                      </a:r>
                    </a:p>
                  </a:txBody>
                  <a:tcPr marL="71437" marR="71437" marT="35719" marB="35719" anchor="ctr">
                    <a:lnL>
                      <a:noFill/>
                    </a:lnL>
                    <a:lnR>
                      <a:noFill/>
                    </a:lnR>
                    <a:lnT>
                      <a:noFill/>
                    </a:lnT>
                    <a:lnB>
                      <a:noFill/>
                    </a:lnB>
                  </a:tcPr>
                </a:tc>
                <a:extLst>
                  <a:ext uri="{0D108BD9-81ED-4DB2-BD59-A6C34878D82A}">
                    <a16:rowId xmlns:a16="http://schemas.microsoft.com/office/drawing/2014/main" val="10005"/>
                  </a:ext>
                </a:extLst>
              </a:tr>
              <a:tr h="394240">
                <a:tc>
                  <a:txBody>
                    <a:bodyPr/>
                    <a:lstStyle/>
                    <a:p>
                      <a:r>
                        <a:rPr lang="en-IN" sz="2000">
                          <a:latin typeface="Times New Roman" pitchFamily="18" charset="0"/>
                          <a:cs typeface="Times New Roman" pitchFamily="18" charset="0"/>
                        </a:rPr>
                        <a:t>&lt;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save</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3</a:t>
                      </a:r>
                    </a:p>
                  </a:txBody>
                  <a:tcPr marL="71437" marR="71437" marT="35719" marB="35719" anchor="ctr">
                    <a:lnL>
                      <a:noFill/>
                    </a:lnL>
                    <a:lnR>
                      <a:noFill/>
                    </a:lnR>
                    <a:lnT>
                      <a:noFill/>
                    </a:lnT>
                    <a:lnB>
                      <a:noFill/>
                    </a:lnB>
                  </a:tcPr>
                </a:tc>
                <a:extLst>
                  <a:ext uri="{0D108BD9-81ED-4DB2-BD59-A6C34878D82A}">
                    <a16:rowId xmlns:a16="http://schemas.microsoft.com/office/drawing/2014/main" val="10006"/>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11</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im1</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3</a:t>
                      </a:r>
                    </a:p>
                  </a:txBody>
                  <a:tcPr marL="71437" marR="71437" marT="35719" marB="35719" anchor="ctr">
                    <a:lnL>
                      <a:noFill/>
                    </a:lnL>
                    <a:lnR>
                      <a:noFill/>
                    </a:lnR>
                    <a:lnT>
                      <a:noFill/>
                    </a:lnT>
                    <a:lnB>
                      <a:noFill/>
                    </a:lnB>
                  </a:tcPr>
                </a:tc>
                <a:extLst>
                  <a:ext uri="{0D108BD9-81ED-4DB2-BD59-A6C34878D82A}">
                    <a16:rowId xmlns:a16="http://schemas.microsoft.com/office/drawing/2014/main" val="10007"/>
                  </a:ext>
                </a:extLst>
              </a:tr>
              <a:tr h="394240">
                <a:tc>
                  <a:txBody>
                    <a:bodyPr/>
                    <a:lstStyle/>
                    <a:p>
                      <a:r>
                        <a:rPr lang="en-IN" sz="2000">
                          <a:latin typeface="Times New Roman" pitchFamily="18" charset="0"/>
                          <a:cs typeface="Times New Roman" pitchFamily="18" charset="0"/>
                        </a:rPr>
                        <a:t>for</a:t>
                      </a:r>
                    </a:p>
                  </a:txBody>
                  <a:tcPr marL="71437" marR="71437" marT="35719" marB="35719" anchor="ctr">
                    <a:lnL>
                      <a:noFill/>
                    </a:lnL>
                    <a:lnR>
                      <a:noFill/>
                    </a:lnR>
                    <a:lnT>
                      <a:noFill/>
                    </a:lnT>
                    <a:lnB>
                      <a:noFill/>
                    </a:lnB>
                  </a:tcPr>
                </a:tc>
                <a:tc>
                  <a:txBody>
                    <a:bodyPr/>
                    <a:lstStyle/>
                    <a:p>
                      <a:r>
                        <a:rPr lang="en-IN" sz="2000" dirty="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extLst>
                  <a:ext uri="{0D108BD9-81ED-4DB2-BD59-A6C34878D82A}">
                    <a16:rowId xmlns:a16="http://schemas.microsoft.com/office/drawing/2014/main" val="10008"/>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6</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1</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3</a:t>
                      </a:r>
                    </a:p>
                  </a:txBody>
                  <a:tcPr marL="71437" marR="71437" marT="35719" marB="35719" anchor="ctr">
                    <a:lnL>
                      <a:noFill/>
                    </a:lnL>
                    <a:lnR>
                      <a:noFill/>
                    </a:lnR>
                    <a:lnT>
                      <a:noFill/>
                    </a:lnT>
                    <a:lnB>
                      <a:noFill/>
                    </a:lnB>
                  </a:tcPr>
                </a:tc>
                <a:extLst>
                  <a:ext uri="{0D108BD9-81ED-4DB2-BD59-A6C34878D82A}">
                    <a16:rowId xmlns:a16="http://schemas.microsoft.com/office/drawing/2014/main" val="10009"/>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1</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0</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1</a:t>
                      </a:r>
                    </a:p>
                  </a:txBody>
                  <a:tcPr marL="71437" marR="71437" marT="35719" marB="35719" anchor="ctr">
                    <a:lnL>
                      <a:noFill/>
                    </a:lnL>
                    <a:lnR>
                      <a:noFill/>
                    </a:lnR>
                    <a:lnT>
                      <a:noFill/>
                    </a:lnT>
                    <a:lnB>
                      <a:noFill/>
                    </a:lnB>
                  </a:tcPr>
                </a:tc>
                <a:extLst>
                  <a:ext uri="{0D108BD9-81ED-4DB2-BD59-A6C34878D82A}">
                    <a16:rowId xmlns:a16="http://schemas.microsoft.com/office/drawing/2014/main" val="10010"/>
                  </a:ext>
                </a:extLst>
              </a:tr>
              <a:tr h="394240">
                <a:tc>
                  <a:txBody>
                    <a:bodyPr/>
                    <a:lstStyle/>
                    <a:p>
                      <a:r>
                        <a:rPr lang="en-IN" sz="2000">
                          <a:latin typeface="Times New Roman" pitchFamily="18" charset="0"/>
                          <a:cs typeface="Times New Roman" pitchFamily="18" charset="0"/>
                        </a:rPr>
                        <a:t>&lt;=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extLst>
                  <a:ext uri="{0D108BD9-81ED-4DB2-BD59-A6C34878D82A}">
                    <a16:rowId xmlns:a16="http://schemas.microsoft.com/office/drawing/2014/main" val="10011"/>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extLst>
                  <a:ext uri="{0D108BD9-81ED-4DB2-BD59-A6C34878D82A}">
                    <a16:rowId xmlns:a16="http://schemas.microsoft.com/office/drawing/2014/main" val="10012"/>
                  </a:ext>
                </a:extLst>
              </a:tr>
              <a:tr h="394240">
                <a:tc>
                  <a:txBody>
                    <a:bodyPr/>
                    <a:lstStyle/>
                    <a:p>
                      <a:r>
                        <a:rPr lang="en-IN" sz="2000">
                          <a:latin typeface="Times New Roman" pitchFamily="18" charset="0"/>
                          <a:cs typeface="Times New Roman" pitchFamily="18" charset="0"/>
                        </a:rPr>
                        <a:t>return</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2</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extLst>
                  <a:ext uri="{0D108BD9-81ED-4DB2-BD59-A6C34878D82A}">
                    <a16:rowId xmlns:a16="http://schemas.microsoft.com/office/drawing/2014/main" val="10013"/>
                  </a:ext>
                </a:extLst>
              </a:tr>
              <a:tr h="394240">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3</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tc>
                  <a:txBody>
                    <a:bodyPr/>
                    <a:lstStyle/>
                    <a:p>
                      <a:r>
                        <a:rPr lang="en-IN" sz="2000">
                          <a:latin typeface="Times New Roman" pitchFamily="18" charset="0"/>
                          <a:cs typeface="Times New Roman" pitchFamily="18" charset="0"/>
                        </a:rPr>
                        <a:t>–</a:t>
                      </a:r>
                    </a:p>
                  </a:txBody>
                  <a:tcPr marL="71437" marR="71437" marT="35719" marB="35719" anchor="ctr">
                    <a:lnL>
                      <a:noFill/>
                    </a:lnL>
                    <a:lnR>
                      <a:noFill/>
                    </a:lnR>
                    <a:lnT>
                      <a:noFill/>
                    </a:lnT>
                    <a:lnB>
                      <a:noFill/>
                    </a:lnB>
                  </a:tcPr>
                </a:tc>
                <a:extLst>
                  <a:ext uri="{0D108BD9-81ED-4DB2-BD59-A6C34878D82A}">
                    <a16:rowId xmlns:a16="http://schemas.microsoft.com/office/drawing/2014/main" val="10014"/>
                  </a:ext>
                </a:extLst>
              </a:tr>
              <a:tr h="394240">
                <a:tc>
                  <a:txBody>
                    <a:bodyPr/>
                    <a:lstStyle/>
                    <a:p>
                      <a:r>
                        <a:rPr lang="en-IN" sz="2000" b="1" dirty="0">
                          <a:latin typeface="Times New Roman" pitchFamily="18" charset="0"/>
                          <a:cs typeface="Times New Roman" pitchFamily="18" charset="0"/>
                        </a:rPr>
                        <a:t>n1=14</a:t>
                      </a:r>
                    </a:p>
                  </a:txBody>
                  <a:tcPr marL="71437" marR="71437" marT="35719" marB="35719" anchor="ctr">
                    <a:lnL>
                      <a:noFill/>
                    </a:lnL>
                    <a:lnR>
                      <a:noFill/>
                    </a:lnR>
                    <a:lnT>
                      <a:noFill/>
                    </a:lnT>
                    <a:lnB>
                      <a:noFill/>
                    </a:lnB>
                  </a:tcPr>
                </a:tc>
                <a:tc>
                  <a:txBody>
                    <a:bodyPr/>
                    <a:lstStyle/>
                    <a:p>
                      <a:r>
                        <a:rPr lang="en-IN" sz="2000" b="1" dirty="0">
                          <a:latin typeface="Times New Roman" pitchFamily="18" charset="0"/>
                          <a:cs typeface="Times New Roman" pitchFamily="18" charset="0"/>
                        </a:rPr>
                        <a:t>N1=53</a:t>
                      </a:r>
                    </a:p>
                  </a:txBody>
                  <a:tcPr marL="71437" marR="71437" marT="35719" marB="35719" anchor="ctr">
                    <a:lnL>
                      <a:noFill/>
                    </a:lnL>
                    <a:lnR>
                      <a:noFill/>
                    </a:lnR>
                    <a:lnT>
                      <a:noFill/>
                    </a:lnT>
                    <a:lnB>
                      <a:noFill/>
                    </a:lnB>
                  </a:tcPr>
                </a:tc>
                <a:tc>
                  <a:txBody>
                    <a:bodyPr/>
                    <a:lstStyle/>
                    <a:p>
                      <a:r>
                        <a:rPr lang="en-IN" sz="2000" b="1" dirty="0">
                          <a:latin typeface="Times New Roman" pitchFamily="18" charset="0"/>
                          <a:cs typeface="Times New Roman" pitchFamily="18" charset="0"/>
                        </a:rPr>
                        <a:t>n2=10</a:t>
                      </a:r>
                    </a:p>
                  </a:txBody>
                  <a:tcPr marL="71437" marR="71437" marT="35719" marB="35719" anchor="ctr">
                    <a:lnL>
                      <a:noFill/>
                    </a:lnL>
                    <a:lnR>
                      <a:noFill/>
                    </a:lnR>
                    <a:lnT>
                      <a:noFill/>
                    </a:lnT>
                    <a:lnB>
                      <a:noFill/>
                    </a:lnB>
                  </a:tcPr>
                </a:tc>
                <a:tc>
                  <a:txBody>
                    <a:bodyPr/>
                    <a:lstStyle/>
                    <a:p>
                      <a:r>
                        <a:rPr lang="en-IN" sz="2000" b="1" dirty="0">
                          <a:latin typeface="Times New Roman" pitchFamily="18" charset="0"/>
                          <a:cs typeface="Times New Roman" pitchFamily="18" charset="0"/>
                        </a:rPr>
                        <a:t>N2=38</a:t>
                      </a:r>
                    </a:p>
                  </a:txBody>
                  <a:tcPr marL="71437" marR="71437" marT="35719" marB="35719" anchor="ctr">
                    <a:lnL>
                      <a:noFill/>
                    </a:lnL>
                    <a:lnR>
                      <a:noFill/>
                    </a:lnR>
                    <a:lnT>
                      <a:noFill/>
                    </a:lnT>
                    <a:lnB>
                      <a:noFill/>
                    </a:lnB>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759818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332656"/>
            <a:ext cx="7772400" cy="5687144"/>
          </a:xfrm>
        </p:spPr>
        <p:txBody>
          <a:bodyPr>
            <a:normAutofit fontScale="92500" lnSpcReduction="10000"/>
          </a:bodyPr>
          <a:lstStyle/>
          <a:p>
            <a:r>
              <a:rPr lang="en-US" dirty="0">
                <a:latin typeface="Times New Roman" pitchFamily="18" charset="0"/>
                <a:cs typeface="Times New Roman" pitchFamily="18" charset="0"/>
              </a:rPr>
              <a:t>Here N1=53 and N2=38. </a:t>
            </a:r>
          </a:p>
          <a:p>
            <a:r>
              <a:rPr lang="en-US" dirty="0">
                <a:latin typeface="Times New Roman" pitchFamily="18" charset="0"/>
                <a:cs typeface="Times New Roman" pitchFamily="18" charset="0"/>
              </a:rPr>
              <a:t>The program length N=N1+N2=53+38=91</a:t>
            </a:r>
          </a:p>
          <a:p>
            <a:r>
              <a:rPr lang="en-US" dirty="0">
                <a:latin typeface="Times New Roman" pitchFamily="18" charset="0"/>
                <a:cs typeface="Times New Roman" pitchFamily="18" charset="0"/>
              </a:rPr>
              <a:t>Vocabulary of the program n=n1+n2=14+10=24</a:t>
            </a:r>
          </a:p>
          <a:p>
            <a:r>
              <a:rPr lang="en-US" dirty="0">
                <a:latin typeface="Times New Roman" pitchFamily="18" charset="0"/>
                <a:cs typeface="Times New Roman" pitchFamily="18" charset="0"/>
              </a:rPr>
              <a:t>Volume V= N * log</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N=91 x log</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24=417 bits.</a:t>
            </a:r>
          </a:p>
          <a:p>
            <a:r>
              <a:rPr lang="en-US" dirty="0">
                <a:latin typeface="Times New Roman" pitchFamily="18" charset="0"/>
                <a:cs typeface="Times New Roman" pitchFamily="18" charset="0"/>
              </a:rPr>
              <a:t>The estimate program length N of the program</a:t>
            </a:r>
          </a:p>
          <a:p>
            <a:r>
              <a:rPr lang="en-US" dirty="0">
                <a:latin typeface="Times New Roman" pitchFamily="18" charset="0"/>
                <a:cs typeface="Times New Roman" pitchFamily="18" charset="0"/>
              </a:rPr>
              <a:t>                = 14 log</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14+10 log</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)10</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 14 * 3.81+10 * 3.32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 53.34+33.2=86.45</a:t>
            </a:r>
          </a:p>
          <a:p>
            <a:r>
              <a:rPr lang="en-US" dirty="0">
                <a:latin typeface="Times New Roman" pitchFamily="18" charset="0"/>
                <a:cs typeface="Times New Roman" pitchFamily="18" charset="0"/>
              </a:rPr>
              <a:t>Conceptually unique input and output parameters are represented by n2*.</a:t>
            </a:r>
          </a:p>
          <a:p>
            <a:r>
              <a:rPr lang="en-US" dirty="0">
                <a:latin typeface="Times New Roman" pitchFamily="18" charset="0"/>
                <a:cs typeface="Times New Roman" pitchFamily="18" charset="0"/>
              </a:rPr>
              <a:t>        n2*=3 {x: array holding the integer to be sorted. This is used as both input and output}</a:t>
            </a:r>
          </a:p>
          <a:p>
            <a:r>
              <a:rPr lang="en-US" dirty="0">
                <a:latin typeface="Times New Roman" pitchFamily="18" charset="0"/>
                <a:cs typeface="Times New Roman" pitchFamily="18" charset="0"/>
              </a:rPr>
              <a:t>                {N: the size of the array to be sorted}</a:t>
            </a:r>
          </a:p>
          <a:p>
            <a:r>
              <a:rPr lang="en-US" dirty="0">
                <a:latin typeface="Times New Roman" pitchFamily="18" charset="0"/>
                <a:cs typeface="Times New Roman" pitchFamily="18" charset="0"/>
              </a:rPr>
              <a:t>The Potential Volume V*=5log</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5=11.6</a:t>
            </a:r>
          </a:p>
          <a:p>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12314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US" dirty="0"/>
              <a:t>Since         L=V*/V</a:t>
            </a:r>
          </a:p>
          <a:p>
            <a:pPr marL="0"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974" y="1930285"/>
            <a:ext cx="5400600"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9345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Staffing Level Estimation </a:t>
            </a:r>
          </a:p>
        </p:txBody>
      </p:sp>
      <p:sp>
        <p:nvSpPr>
          <p:cNvPr id="3" name="Content Placeholder 2"/>
          <p:cNvSpPr>
            <a:spLocks noGrp="1"/>
          </p:cNvSpPr>
          <p:nvPr>
            <p:ph sz="quarter" idx="1"/>
          </p:nvPr>
        </p:nvSpPr>
        <p:spPr/>
        <p:txBody>
          <a:bodyPr>
            <a:normAutofit fontScale="92500"/>
          </a:bodyPr>
          <a:lstStyle/>
          <a:p>
            <a:pPr algn="just"/>
            <a:r>
              <a:rPr lang="en-US" dirty="0">
                <a:latin typeface="Times New Roman" pitchFamily="18" charset="0"/>
                <a:cs typeface="Times New Roman" pitchFamily="18" charset="0"/>
              </a:rPr>
              <a:t>Once the effort required to complete a software project has been estimated, the staffing requirement for the project can be determined.</a:t>
            </a:r>
          </a:p>
          <a:p>
            <a:pPr algn="just"/>
            <a:r>
              <a:rPr lang="en-US" dirty="0">
                <a:latin typeface="Times New Roman" pitchFamily="18" charset="0"/>
                <a:cs typeface="Times New Roman" pitchFamily="18" charset="0"/>
              </a:rPr>
              <a:t>Putnam was the first to study the problem of determining a proper staffing pattern for software projects. </a:t>
            </a:r>
          </a:p>
          <a:p>
            <a:pPr algn="just"/>
            <a:r>
              <a:rPr lang="en-US" dirty="0">
                <a:latin typeface="Times New Roman" pitchFamily="18" charset="0"/>
                <a:cs typeface="Times New Roman" pitchFamily="18" charset="0"/>
              </a:rPr>
              <a:t>He extended the classical work of </a:t>
            </a:r>
            <a:r>
              <a:rPr lang="en-US" dirty="0" err="1">
                <a:latin typeface="Times New Roman" pitchFamily="18" charset="0"/>
                <a:cs typeface="Times New Roman" pitchFamily="18" charset="0"/>
              </a:rPr>
              <a:t>Norden</a:t>
            </a:r>
            <a:r>
              <a:rPr lang="en-US" dirty="0">
                <a:latin typeface="Times New Roman" pitchFamily="18" charset="0"/>
                <a:cs typeface="Times New Roman" pitchFamily="18" charset="0"/>
              </a:rPr>
              <a:t> who had earlier investigated the staffing pattern of general research and development (R&amp;D) type of projects. </a:t>
            </a:r>
          </a:p>
          <a:p>
            <a:pPr algn="just"/>
            <a:r>
              <a:rPr lang="en-US" dirty="0">
                <a:latin typeface="Times New Roman" pitchFamily="18" charset="0"/>
                <a:cs typeface="Times New Roman" pitchFamily="18" charset="0"/>
              </a:rPr>
              <a:t>In order to appreciate the uniqueness of the staffing pattern that is desirable for software projects, we must first understand both </a:t>
            </a:r>
            <a:r>
              <a:rPr lang="en-US" dirty="0" err="1">
                <a:latin typeface="Times New Roman" pitchFamily="18" charset="0"/>
                <a:cs typeface="Times New Roman" pitchFamily="18" charset="0"/>
              </a:rPr>
              <a:t>Norden’s</a:t>
            </a:r>
            <a:r>
              <a:rPr lang="en-US" dirty="0">
                <a:latin typeface="Times New Roman" pitchFamily="18" charset="0"/>
                <a:cs typeface="Times New Roman" pitchFamily="18" charset="0"/>
              </a:rPr>
              <a:t> and Putnam’s results.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02211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err="1"/>
              <a:t>Norden’s</a:t>
            </a:r>
            <a:r>
              <a:rPr lang="en-IN" b="1" dirty="0"/>
              <a:t> Work</a:t>
            </a:r>
            <a:r>
              <a:rPr lang="en-IN" dirty="0"/>
              <a:t> </a:t>
            </a:r>
          </a:p>
        </p:txBody>
      </p:sp>
      <p:sp>
        <p:nvSpPr>
          <p:cNvPr id="3" name="Content Placeholder 2"/>
          <p:cNvSpPr>
            <a:spLocks noGrp="1"/>
          </p:cNvSpPr>
          <p:nvPr>
            <p:ph sz="quarter" idx="1"/>
          </p:nvPr>
        </p:nvSpPr>
        <p:spPr>
          <a:xfrm>
            <a:off x="914400" y="1447800"/>
            <a:ext cx="7772400" cy="5005536"/>
          </a:xfrm>
        </p:spPr>
        <p:txBody>
          <a:bodyPr>
            <a:normAutofit fontScale="92500" lnSpcReduction="10000"/>
          </a:bodyPr>
          <a:lstStyle/>
          <a:p>
            <a:pPr algn="just"/>
            <a:r>
              <a:rPr lang="en-US" dirty="0" err="1">
                <a:latin typeface="Times New Roman" pitchFamily="18" charset="0"/>
                <a:cs typeface="Times New Roman" pitchFamily="18" charset="0"/>
              </a:rPr>
              <a:t>Norden</a:t>
            </a:r>
            <a:r>
              <a:rPr lang="en-US" dirty="0">
                <a:latin typeface="Times New Roman" pitchFamily="18" charset="0"/>
                <a:cs typeface="Times New Roman" pitchFamily="18" charset="0"/>
              </a:rPr>
              <a:t> concluded that the staffing pattern for any R&amp;D project starting from a low level, increases until it reaches a peak value. It then starts to diminish. </a:t>
            </a:r>
          </a:p>
          <a:p>
            <a:pPr algn="just"/>
            <a:r>
              <a:rPr lang="en-US" dirty="0">
                <a:latin typeface="Times New Roman" pitchFamily="18" charset="0"/>
                <a:cs typeface="Times New Roman" pitchFamily="18" charset="0"/>
              </a:rPr>
              <a:t>This pattern can be approximated by the Rayleigh distribution curve. </a:t>
            </a:r>
          </a:p>
          <a:p>
            <a:r>
              <a:rPr lang="en-US" dirty="0" err="1">
                <a:latin typeface="Times New Roman" pitchFamily="18" charset="0"/>
                <a:cs typeface="Times New Roman" pitchFamily="18" charset="0"/>
              </a:rPr>
              <a:t>Norden</a:t>
            </a:r>
            <a:r>
              <a:rPr lang="en-US" dirty="0">
                <a:latin typeface="Times New Roman" pitchFamily="18" charset="0"/>
                <a:cs typeface="Times New Roman" pitchFamily="18" charset="0"/>
              </a:rPr>
              <a:t> represented the Rayleigh curve by the following equation: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Where E is the effort required at time t. E is an indication of the number of developers (or the staffing level) at any particular time during the duration of the project.</a:t>
            </a:r>
          </a:p>
          <a:p>
            <a:r>
              <a:rPr lang="en-US" dirty="0">
                <a:latin typeface="Times New Roman" pitchFamily="18" charset="0"/>
                <a:cs typeface="Times New Roman" pitchFamily="18" charset="0"/>
              </a:rPr>
              <a:t>K is the area under the curve, and </a:t>
            </a:r>
          </a:p>
          <a:p>
            <a:r>
              <a:rPr lang="en-US" dirty="0">
                <a:latin typeface="Times New Roman" pitchFamily="18" charset="0"/>
                <a:cs typeface="Times New Roman" pitchFamily="18" charset="0"/>
              </a:rPr>
              <a:t>td is the time at which the curve attains its maximum value.</a:t>
            </a:r>
            <a:endParaRPr lang="en-IN"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3645024"/>
            <a:ext cx="2592288"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4918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836712"/>
            <a:ext cx="8712968"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13387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Putnam’s Work</a:t>
            </a:r>
          </a:p>
        </p:txBody>
      </p:sp>
      <p:sp>
        <p:nvSpPr>
          <p:cNvPr id="3" name="Content Placeholder 2"/>
          <p:cNvSpPr>
            <a:spLocks noGrp="1"/>
          </p:cNvSpPr>
          <p:nvPr>
            <p:ph sz="quarter" idx="1"/>
          </p:nvPr>
        </p:nvSpPr>
        <p:spPr/>
        <p:txBody>
          <a:bodyPr>
            <a:normAutofit fontScale="92500" lnSpcReduction="10000"/>
          </a:bodyPr>
          <a:lstStyle/>
          <a:p>
            <a:pPr algn="just"/>
            <a:r>
              <a:rPr lang="en-US" dirty="0">
                <a:latin typeface="Times New Roman" pitchFamily="18" charset="0"/>
                <a:cs typeface="Times New Roman" pitchFamily="18" charset="0"/>
              </a:rPr>
              <a:t>Putnam found that the Rayleigh-</a:t>
            </a:r>
            <a:r>
              <a:rPr lang="en-US" dirty="0" err="1">
                <a:latin typeface="Times New Roman" pitchFamily="18" charset="0"/>
                <a:cs typeface="Times New Roman" pitchFamily="18" charset="0"/>
              </a:rPr>
              <a:t>Norden</a:t>
            </a:r>
            <a:r>
              <a:rPr lang="en-US" dirty="0">
                <a:latin typeface="Times New Roman" pitchFamily="18" charset="0"/>
                <a:cs typeface="Times New Roman" pitchFamily="18" charset="0"/>
              </a:rPr>
              <a:t> curve can be adapted to relate the number of delivered lines of code to the effort and the time required to develop the product. </a:t>
            </a:r>
          </a:p>
          <a:p>
            <a:pPr algn="just"/>
            <a:r>
              <a:rPr lang="en-US" dirty="0">
                <a:latin typeface="Times New Roman" pitchFamily="18" charset="0"/>
                <a:cs typeface="Times New Roman" pitchFamily="18" charset="0"/>
              </a:rPr>
              <a:t>By analyzing a large number of defense projects, Putnam derived the following expression:</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Where  K is the total effort expended (in PM) in the product development and L is the product size in KLOC. </a:t>
            </a:r>
          </a:p>
          <a:p>
            <a:pPr algn="just"/>
            <a:r>
              <a:rPr lang="en-US" dirty="0">
                <a:latin typeface="Times New Roman" pitchFamily="18" charset="0"/>
                <a:cs typeface="Times New Roman" pitchFamily="18" charset="0"/>
              </a:rPr>
              <a:t> td corresponds to the time of system and integration testing. Therefore, td can  be  approximately  considered  as  the  time  required  to  develop  the  software. </a:t>
            </a:r>
            <a:endParaRPr lang="en-IN"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3212976"/>
            <a:ext cx="2898998" cy="662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080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k</a:t>
            </a:r>
            <a:r>
              <a:rPr lang="en-US" dirty="0">
                <a:latin typeface="Times New Roman" pitchFamily="18" charset="0"/>
                <a:cs typeface="Times New Roman" pitchFamily="18" charset="0"/>
              </a:rPr>
              <a:t> is the state of technology constant. </a:t>
            </a:r>
          </a:p>
          <a:p>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k</a:t>
            </a:r>
            <a:r>
              <a:rPr lang="en-US" dirty="0">
                <a:latin typeface="Times New Roman" pitchFamily="18" charset="0"/>
                <a:cs typeface="Times New Roman" pitchFamily="18" charset="0"/>
              </a:rPr>
              <a:t> = 2 for poor development environment </a:t>
            </a:r>
          </a:p>
          <a:p>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k</a:t>
            </a:r>
            <a:r>
              <a:rPr lang="en-US" dirty="0">
                <a:latin typeface="Times New Roman" pitchFamily="18" charset="0"/>
                <a:cs typeface="Times New Roman" pitchFamily="18" charset="0"/>
              </a:rPr>
              <a:t> = 8 for good software development environment</a:t>
            </a:r>
          </a:p>
          <a:p>
            <a:r>
              <a:rPr lang="en-US" dirty="0" err="1">
                <a:latin typeface="Times New Roman" pitchFamily="18" charset="0"/>
                <a:cs typeface="Times New Roman" pitchFamily="18" charset="0"/>
              </a:rPr>
              <a:t>C</a:t>
            </a:r>
            <a:r>
              <a:rPr lang="en-US" baseline="-25000" dirty="0" err="1">
                <a:latin typeface="Times New Roman" pitchFamily="18" charset="0"/>
                <a:cs typeface="Times New Roman" pitchFamily="18" charset="0"/>
              </a:rPr>
              <a:t>k</a:t>
            </a:r>
            <a:r>
              <a:rPr lang="en-US" dirty="0">
                <a:latin typeface="Times New Roman" pitchFamily="18" charset="0"/>
                <a:cs typeface="Times New Roman" pitchFamily="18" charset="0"/>
              </a:rPr>
              <a:t> = 11 for an excellent environment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3103324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b62ace7-dc63-422a-bc3d-160030b6c544" xsi:nil="true"/>
    <lcf76f155ced4ddcb4097134ff3c332f xmlns="825ec92c-3adf-477d-94fd-0f6f45393e7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E626AF985D4E4AA3548E5E8141209B" ma:contentTypeVersion="11" ma:contentTypeDescription="Create a new document." ma:contentTypeScope="" ma:versionID="a6ae7e69e75546042cf5f318c5323df5">
  <xsd:schema xmlns:xsd="http://www.w3.org/2001/XMLSchema" xmlns:xs="http://www.w3.org/2001/XMLSchema" xmlns:p="http://schemas.microsoft.com/office/2006/metadata/properties" xmlns:ns2="825ec92c-3adf-477d-94fd-0f6f45393e75" xmlns:ns3="1b62ace7-dc63-422a-bc3d-160030b6c544" targetNamespace="http://schemas.microsoft.com/office/2006/metadata/properties" ma:root="true" ma:fieldsID="6a82196932875688337104176baeb68e" ns2:_="" ns3:_="">
    <xsd:import namespace="825ec92c-3adf-477d-94fd-0f6f45393e75"/>
    <xsd:import namespace="1b62ace7-dc63-422a-bc3d-160030b6c5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5ec92c-3adf-477d-94fd-0f6f45393e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34f2db7-5c9e-4885-aa5f-8b428826e26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2ace7-dc63-422a-bc3d-160030b6c5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4a80a08-14ec-486c-a55d-86d0010798e1}" ma:internalName="TaxCatchAll" ma:showField="CatchAllData" ma:web="1b62ace7-dc63-422a-bc3d-160030b6c5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08A6A7-6C7A-47F4-B06B-AED17CDB39B8}">
  <ds:schemaRefs>
    <ds:schemaRef ds:uri="http://schemas.microsoft.com/office/2006/metadata/properties"/>
    <ds:schemaRef ds:uri="http://schemas.microsoft.com/office/infopath/2007/PartnerControls"/>
    <ds:schemaRef ds:uri="1b62ace7-dc63-422a-bc3d-160030b6c544"/>
    <ds:schemaRef ds:uri="825ec92c-3adf-477d-94fd-0f6f45393e75"/>
  </ds:schemaRefs>
</ds:datastoreItem>
</file>

<file path=customXml/itemProps2.xml><?xml version="1.0" encoding="utf-8"?>
<ds:datastoreItem xmlns:ds="http://schemas.openxmlformats.org/officeDocument/2006/customXml" ds:itemID="{4EA06EBA-84B5-4B01-ADCC-AA4301791114}">
  <ds:schemaRefs>
    <ds:schemaRef ds:uri="http://schemas.microsoft.com/sharepoint/v3/contenttype/forms"/>
  </ds:schemaRefs>
</ds:datastoreItem>
</file>

<file path=customXml/itemProps3.xml><?xml version="1.0" encoding="utf-8"?>
<ds:datastoreItem xmlns:ds="http://schemas.openxmlformats.org/officeDocument/2006/customXml" ds:itemID="{060EC824-CA5D-416B-9555-1EE741077D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5ec92c-3adf-477d-94fd-0f6f45393e75"/>
    <ds:schemaRef ds:uri="1b62ace7-dc63-422a-bc3d-160030b6c5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Equity</Template>
  <TotalTime>1729</TotalTime>
  <Words>2948</Words>
  <Application>Microsoft Office PowerPoint</Application>
  <PresentationFormat>On-screen Show (4:3)</PresentationFormat>
  <Paragraphs>372</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Franklin Gothic Book</vt:lpstr>
      <vt:lpstr>Perpetua</vt:lpstr>
      <vt:lpstr>Times New Roman</vt:lpstr>
      <vt:lpstr>Wingdings 2</vt:lpstr>
      <vt:lpstr>Equity</vt:lpstr>
      <vt:lpstr>Project Estimation Technique</vt:lpstr>
      <vt:lpstr>Project Estimation Technique</vt:lpstr>
      <vt:lpstr>Empirical Estimation Technique</vt:lpstr>
      <vt:lpstr>Expert Judgment</vt:lpstr>
      <vt:lpstr>Delphi Cost Estimation</vt:lpstr>
      <vt:lpstr>PowerPoint Presentation</vt:lpstr>
      <vt:lpstr>Heuristic Estimation Technique </vt:lpstr>
      <vt:lpstr>Organic</vt:lpstr>
      <vt:lpstr>Semidetached</vt:lpstr>
      <vt:lpstr>Embedded</vt:lpstr>
      <vt:lpstr>Basic COCOMO Model</vt:lpstr>
      <vt:lpstr>PowerPoint Presentation</vt:lpstr>
      <vt:lpstr>PowerPoint Presentation</vt:lpstr>
      <vt:lpstr>PowerPoint Presentation</vt:lpstr>
      <vt:lpstr>Intermediate COCOMO</vt:lpstr>
      <vt:lpstr>Classification of Cost Drivers and their attributes</vt:lpstr>
      <vt:lpstr>PowerPoint Presentation</vt:lpstr>
      <vt:lpstr>PowerPoint Presentation</vt:lpstr>
      <vt:lpstr>PowerPoint Presentation</vt:lpstr>
      <vt:lpstr>PowerPoint Presentation</vt:lpstr>
      <vt:lpstr>PowerPoint Presentation</vt:lpstr>
      <vt:lpstr>PowerPoint Presentation</vt:lpstr>
      <vt:lpstr>Detailed COCOMO</vt:lpstr>
      <vt:lpstr>The Six phases of detailed COCOMO are</vt:lpstr>
      <vt:lpstr>Analytical Technique</vt:lpstr>
      <vt:lpstr>Halstead Metrics</vt:lpstr>
      <vt:lpstr>Halstead Metrics</vt:lpstr>
      <vt:lpstr>PowerPoint Presentation</vt:lpstr>
      <vt:lpstr>PowerPoint Presentation</vt:lpstr>
      <vt:lpstr>PowerPoint Presentation</vt:lpstr>
      <vt:lpstr>PowerPoint Presentation</vt:lpstr>
      <vt:lpstr>Language levels</vt:lpstr>
      <vt:lpstr>PowerPoint Presentation</vt:lpstr>
      <vt:lpstr>Counting rules for C language </vt:lpstr>
      <vt:lpstr>PowerPoint Presentation</vt:lpstr>
      <vt:lpstr>PowerPoint Presentation</vt:lpstr>
      <vt:lpstr>PowerPoint Presentation</vt:lpstr>
      <vt:lpstr>PowerPoint Presentation</vt:lpstr>
      <vt:lpstr>PowerPoint Presentation</vt:lpstr>
      <vt:lpstr>PowerPoint Presentation</vt:lpstr>
      <vt:lpstr>Staffing Level Estimation </vt:lpstr>
      <vt:lpstr>Norden’s Work </vt:lpstr>
      <vt:lpstr>PowerPoint Presentation</vt:lpstr>
      <vt:lpstr>Putnam’s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Estimation Technique</dc:title>
  <dc:creator>Admin</dc:creator>
  <cp:lastModifiedBy>Anto S</cp:lastModifiedBy>
  <cp:revision>120</cp:revision>
  <dcterms:created xsi:type="dcterms:W3CDTF">2020-01-04T16:45:29Z</dcterms:created>
  <dcterms:modified xsi:type="dcterms:W3CDTF">2026-01-07T00:57:01Z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0x010100F5E626AF985D4E4AA3548E5E8141209B</vt:lpwstr>
  </property>
</Properties>
</file>